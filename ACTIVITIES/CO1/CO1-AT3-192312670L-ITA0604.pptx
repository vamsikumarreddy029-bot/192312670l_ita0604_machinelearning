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A4A"/>
          </a:solidFill>
          <a:ln/>
        </p:spPr>
      </p:sp>
      <p:sp>
        <p:nvSpPr>
          <p:cNvPr id="3" name="Shape 1"/>
          <p:cNvSpPr/>
          <p:nvPr/>
        </p:nvSpPr>
        <p:spPr>
          <a:xfrm>
            <a:off x="8961120" y="-1371600"/>
            <a:ext cx="4572000" cy="4572000"/>
          </a:xfrm>
          <a:prstGeom prst="ellipse">
            <a:avLst/>
          </a:prstGeom>
          <a:solidFill>
            <a:srgbClr val="24365E"/>
          </a:solidFill>
          <a:ln/>
        </p:spPr>
      </p:sp>
      <p:sp>
        <p:nvSpPr>
          <p:cNvPr id="4" name="Shape 2"/>
          <p:cNvSpPr/>
          <p:nvPr/>
        </p:nvSpPr>
        <p:spPr>
          <a:xfrm>
            <a:off x="-1371600" y="4846320"/>
            <a:ext cx="3657600" cy="3657600"/>
          </a:xfrm>
          <a:prstGeom prst="ellipse">
            <a:avLst/>
          </a:prstGeom>
          <a:solidFill>
            <a:srgbClr val="24365E"/>
          </a:solidFill>
          <a:ln/>
        </p:spPr>
      </p:sp>
      <p:sp>
        <p:nvSpPr>
          <p:cNvPr id="5" name="Text 3"/>
          <p:cNvSpPr/>
          <p:nvPr/>
        </p:nvSpPr>
        <p:spPr>
          <a:xfrm>
            <a:off x="731520" y="1554480"/>
            <a:ext cx="7315200" cy="457200"/>
          </a:xfrm>
          <a:prstGeom prst="rect">
            <a:avLst/>
          </a:prstGeom>
          <a:noFill/>
          <a:ln/>
        </p:spPr>
        <p:txBody>
          <a:bodyPr wrap="square" rtlCol="0" anchor="ctr"/>
          <a:lstStyle/>
          <a:p>
            <a:pPr indent="0" marL="0">
              <a:buNone/>
            </a:pPr>
            <a:r>
              <a:rPr lang="en-US" sz="1600" b="1" spc="300" kern="0" dirty="0">
                <a:solidFill>
                  <a:srgbClr val="9FB3D9"/>
                </a:solidFill>
                <a:latin typeface="Calibri" pitchFamily="34" charset="0"/>
                <a:ea typeface="Calibri" pitchFamily="34" charset="-122"/>
                <a:cs typeface="Calibri" pitchFamily="34" charset="-120"/>
              </a:rPr>
              <a:t>CO1-AT3</a:t>
            </a:r>
            <a:endParaRPr lang="en-US" sz="1600" dirty="0"/>
          </a:p>
        </p:txBody>
      </p:sp>
      <p:sp>
        <p:nvSpPr>
          <p:cNvPr id="6" name="Text 4"/>
          <p:cNvSpPr/>
          <p:nvPr/>
        </p:nvSpPr>
        <p:spPr>
          <a:xfrm>
            <a:off x="731520" y="1965960"/>
            <a:ext cx="9144000" cy="100584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Machine Learning — CO1</a:t>
            </a:r>
            <a:endParaRPr lang="en-US" sz="4000" dirty="0"/>
          </a:p>
        </p:txBody>
      </p:sp>
      <p:sp>
        <p:nvSpPr>
          <p:cNvPr id="7" name="Text 5"/>
          <p:cNvSpPr/>
          <p:nvPr/>
        </p:nvSpPr>
        <p:spPr>
          <a:xfrm>
            <a:off x="731520" y="2880360"/>
            <a:ext cx="9601200" cy="457200"/>
          </a:xfrm>
          <a:prstGeom prst="rect">
            <a:avLst/>
          </a:prstGeom>
          <a:noFill/>
          <a:ln/>
        </p:spPr>
        <p:txBody>
          <a:bodyPr wrap="square" rtlCol="0" anchor="ctr"/>
          <a:lstStyle/>
          <a:p>
            <a:pPr indent="0" marL="0">
              <a:buNone/>
            </a:pPr>
            <a:r>
              <a:rPr lang="en-US" sz="1800" dirty="0">
                <a:solidFill>
                  <a:srgbClr val="C7D4EA"/>
                </a:solidFill>
                <a:latin typeface="Calibri" pitchFamily="34" charset="0"/>
                <a:ea typeface="Calibri" pitchFamily="34" charset="-122"/>
                <a:cs typeface="Calibri" pitchFamily="34" charset="-120"/>
              </a:rPr>
              <a:t>Concept Learning · Version Spaces · Inductive Bias · Decision Trees</a:t>
            </a:r>
            <a:endParaRPr lang="en-US" sz="1800" dirty="0"/>
          </a:p>
        </p:txBody>
      </p:sp>
      <p:sp>
        <p:nvSpPr>
          <p:cNvPr id="8" name="Shape 6"/>
          <p:cNvSpPr/>
          <p:nvPr/>
        </p:nvSpPr>
        <p:spPr>
          <a:xfrm>
            <a:off x="731520" y="3749040"/>
            <a:ext cx="2926080" cy="0"/>
          </a:xfrm>
          <a:prstGeom prst="line">
            <a:avLst/>
          </a:prstGeom>
          <a:noFill/>
          <a:ln w="19050">
            <a:solidFill>
              <a:srgbClr val="4A6491"/>
            </a:solidFill>
            <a:prstDash val="solid"/>
          </a:ln>
        </p:spPr>
      </p:sp>
      <p:sp>
        <p:nvSpPr>
          <p:cNvPr id="9" name="Text 7"/>
          <p:cNvSpPr/>
          <p:nvPr/>
        </p:nvSpPr>
        <p:spPr>
          <a:xfrm>
            <a:off x="731520" y="3977640"/>
            <a:ext cx="8229600" cy="1737360"/>
          </a:xfrm>
          <a:prstGeom prst="rect">
            <a:avLst/>
          </a:prstGeom>
          <a:noFill/>
          <a:ln/>
        </p:spPr>
        <p:txBody>
          <a:bodyPr wrap="square" rtlCol="0" anchor="ctr"/>
          <a:lstStyle/>
          <a:p>
            <a:pPr indent="0" marL="0">
              <a:lnSpc>
                <a:spcPct val="140000"/>
              </a:lnSpc>
              <a:buNone/>
            </a:pPr>
            <a:r>
              <a:rPr lang="en-US" sz="1500" b="1" dirty="0">
                <a:solidFill>
                  <a:srgbClr val="9FB3D9"/>
                </a:solidFill>
                <a:latin typeface="Calibri" pitchFamily="34" charset="0"/>
                <a:ea typeface="Calibri" pitchFamily="34" charset="-122"/>
                <a:cs typeface="Calibri" pitchFamily="34" charset="-120"/>
              </a:rPr>
              <a:t>Name: </a:t>
            </a:r>
            <a:pPr indent="0" marL="0">
              <a:lnSpc>
                <a:spcPct val="140000"/>
              </a:lnSpc>
              <a:buNone/>
            </a:pPr>
            <a:r>
              <a:rPr lang="en-US" sz="1500" dirty="0">
                <a:solidFill>
                  <a:srgbClr val="FFFFFF"/>
                </a:solidFill>
                <a:latin typeface="Calibri" pitchFamily="34" charset="0"/>
                <a:ea typeface="Calibri" pitchFamily="34" charset="-122"/>
                <a:cs typeface="Calibri" pitchFamily="34" charset="-120"/>
              </a:rPr>
              <a:t>K. VAMSI KUMAR REDDY
</a:t>
            </a:r>
            <a:pPr indent="0" marL="0">
              <a:lnSpc>
                <a:spcPct val="140000"/>
              </a:lnSpc>
              <a:buNone/>
            </a:pPr>
            <a:r>
              <a:rPr lang="en-US" sz="1500" b="1" dirty="0">
                <a:solidFill>
                  <a:srgbClr val="9FB3D9"/>
                </a:solidFill>
                <a:latin typeface="Calibri" pitchFamily="34" charset="0"/>
                <a:ea typeface="Calibri" pitchFamily="34" charset="-122"/>
                <a:cs typeface="Calibri" pitchFamily="34" charset="-120"/>
              </a:rPr>
              <a:t>Reg No: </a:t>
            </a:r>
            <a:pPr indent="0" marL="0">
              <a:lnSpc>
                <a:spcPct val="140000"/>
              </a:lnSpc>
              <a:buNone/>
            </a:pPr>
            <a:r>
              <a:rPr lang="en-US" sz="1500" dirty="0">
                <a:solidFill>
                  <a:srgbClr val="FFFFFF"/>
                </a:solidFill>
                <a:latin typeface="Calibri" pitchFamily="34" charset="0"/>
                <a:ea typeface="Calibri" pitchFamily="34" charset="-122"/>
                <a:cs typeface="Calibri" pitchFamily="34" charset="-120"/>
              </a:rPr>
              <a:t>192312670L
</a:t>
            </a:r>
            <a:pPr indent="0" marL="0">
              <a:lnSpc>
                <a:spcPct val="140000"/>
              </a:lnSpc>
              <a:buNone/>
            </a:pPr>
            <a:r>
              <a:rPr lang="en-US" sz="1500" b="1" dirty="0">
                <a:solidFill>
                  <a:srgbClr val="9FB3D9"/>
                </a:solidFill>
                <a:latin typeface="Calibri" pitchFamily="34" charset="0"/>
                <a:ea typeface="Calibri" pitchFamily="34" charset="-122"/>
                <a:cs typeface="Calibri" pitchFamily="34" charset="-120"/>
              </a:rPr>
              <a:t>Course Code: </a:t>
            </a:r>
            <a:pPr indent="0" marL="0">
              <a:lnSpc>
                <a:spcPct val="140000"/>
              </a:lnSpc>
              <a:buNone/>
            </a:pPr>
            <a:r>
              <a:rPr lang="en-US" sz="1500" dirty="0">
                <a:solidFill>
                  <a:srgbClr val="FFFFFF"/>
                </a:solidFill>
                <a:latin typeface="Calibri" pitchFamily="34" charset="0"/>
                <a:ea typeface="Calibri" pitchFamily="34" charset="-122"/>
                <a:cs typeface="Calibri" pitchFamily="34" charset="-120"/>
              </a:rPr>
              <a:t>ITA 06
</a:t>
            </a:r>
            <a:pPr indent="0" marL="0">
              <a:lnSpc>
                <a:spcPct val="140000"/>
              </a:lnSpc>
              <a:buNone/>
            </a:pPr>
            <a:r>
              <a:rPr lang="en-US" sz="1500" b="1" dirty="0">
                <a:solidFill>
                  <a:srgbClr val="9FB3D9"/>
                </a:solidFill>
                <a:latin typeface="Calibri" pitchFamily="34" charset="0"/>
                <a:ea typeface="Calibri" pitchFamily="34" charset="-122"/>
                <a:cs typeface="Calibri" pitchFamily="34" charset="-120"/>
              </a:rPr>
              <a:t>Questions Answered: </a:t>
            </a:r>
            <a:pPr indent="0" marL="0">
              <a:lnSpc>
                <a:spcPct val="140000"/>
              </a:lnSpc>
              <a:buNone/>
            </a:pPr>
            <a:r>
              <a:rPr lang="en-US" sz="1500" dirty="0">
                <a:solidFill>
                  <a:srgbClr val="FFFFFF"/>
                </a:solidFill>
                <a:latin typeface="Calibri" pitchFamily="34" charset="0"/>
                <a:ea typeface="Calibri" pitchFamily="34" charset="-122"/>
                <a:cs typeface="Calibri" pitchFamily="34" charset="-120"/>
              </a:rPr>
              <a:t>Q7, Q8, Q9
</a:t>
            </a:r>
            <a:pPr indent="0" marL="0">
              <a:lnSpc>
                <a:spcPct val="140000"/>
              </a:lnSpc>
              <a:buNone/>
            </a:pPr>
            <a:r>
              <a:rPr lang="en-US" sz="1500" b="1" dirty="0">
                <a:solidFill>
                  <a:srgbClr val="9FB3D9"/>
                </a:solidFill>
                <a:latin typeface="Calibri" pitchFamily="34" charset="0"/>
                <a:ea typeface="Calibri" pitchFamily="34" charset="-122"/>
                <a:cs typeface="Calibri" pitchFamily="34" charset="-120"/>
              </a:rPr>
              <a:t>Marks: </a:t>
            </a:r>
            <a:pPr indent="0" marL="0">
              <a:lnSpc>
                <a:spcPct val="140000"/>
              </a:lnSpc>
              <a:buNone/>
            </a:pPr>
            <a:r>
              <a:rPr lang="en-US" sz="1500" dirty="0">
                <a:solidFill>
                  <a:srgbClr val="FFFFFF"/>
                </a:solidFill>
                <a:latin typeface="Calibri" pitchFamily="34" charset="0"/>
                <a:ea typeface="Calibri" pitchFamily="34" charset="-122"/>
                <a:cs typeface="Calibri" pitchFamily="34" charset="-120"/>
              </a:rPr>
              <a:t>5 each  |  15 Total</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indent="0" marL="0">
              <a:buNone/>
            </a:pPr>
            <a:r>
              <a:rPr lang="en-US" sz="3000" b="1" dirty="0">
                <a:solidFill>
                  <a:srgbClr val="1B2A4A"/>
                </a:solidFill>
                <a:latin typeface="Calibri" pitchFamily="34" charset="0"/>
                <a:ea typeface="Calibri" pitchFamily="34" charset="-122"/>
                <a:cs typeface="Calibri" pitchFamily="34" charset="-120"/>
              </a:rPr>
              <a:t>What We're Covering</a:t>
            </a:r>
            <a:endParaRPr lang="en-US" sz="3000" dirty="0"/>
          </a:p>
        </p:txBody>
      </p:sp>
      <p:sp>
        <p:nvSpPr>
          <p:cNvPr id="3" name="Text 1"/>
          <p:cNvSpPr/>
          <p:nvPr/>
        </p:nvSpPr>
        <p:spPr>
          <a:xfrm>
            <a:off x="548640" y="960120"/>
            <a:ext cx="10058400" cy="365760"/>
          </a:xfrm>
          <a:prstGeom prst="rect">
            <a:avLst/>
          </a:prstGeom>
          <a:noFill/>
          <a:ln/>
        </p:spPr>
        <p:txBody>
          <a:bodyPr wrap="square" rtlCol="0" anchor="ctr"/>
          <a:lstStyle/>
          <a:p>
            <a:pPr indent="0" marL="0">
              <a:buNone/>
            </a:pPr>
            <a:r>
              <a:rPr lang="en-US" sz="1400" dirty="0">
                <a:solidFill>
                  <a:srgbClr val="555555"/>
                </a:solidFill>
                <a:latin typeface="Calibri" pitchFamily="34" charset="0"/>
                <a:ea typeface="Calibri" pitchFamily="34" charset="-122"/>
                <a:cs typeface="Calibri" pitchFamily="34" charset="-120"/>
              </a:rPr>
              <a:t>Three CO1 topics, each with definitions, mechanisms, and worked formulas</a:t>
            </a:r>
            <a:endParaRPr lang="en-US" sz="1400" dirty="0"/>
          </a:p>
        </p:txBody>
      </p:sp>
      <p:sp>
        <p:nvSpPr>
          <p:cNvPr id="4" name="Shape 2"/>
          <p:cNvSpPr/>
          <p:nvPr/>
        </p:nvSpPr>
        <p:spPr>
          <a:xfrm>
            <a:off x="548640" y="1691640"/>
            <a:ext cx="3520440" cy="4297680"/>
          </a:xfrm>
          <a:prstGeom prst="roundRect">
            <a:avLst>
              <a:gd name="adj" fmla="val 2597"/>
            </a:avLst>
          </a:prstGeom>
          <a:solidFill>
            <a:srgbClr val="F4F6F8"/>
          </a:solidFill>
          <a:ln/>
        </p:spPr>
      </p:sp>
      <p:sp>
        <p:nvSpPr>
          <p:cNvPr id="5" name="Shape 3"/>
          <p:cNvSpPr/>
          <p:nvPr/>
        </p:nvSpPr>
        <p:spPr>
          <a:xfrm>
            <a:off x="548640" y="1691640"/>
            <a:ext cx="3520440" cy="822960"/>
          </a:xfrm>
          <a:prstGeom prst="roundRect">
            <a:avLst>
              <a:gd name="adj" fmla="val 11111"/>
            </a:avLst>
          </a:prstGeom>
          <a:solidFill>
            <a:srgbClr val="0F766E"/>
          </a:solidFill>
          <a:ln/>
        </p:spPr>
      </p:sp>
      <p:sp>
        <p:nvSpPr>
          <p:cNvPr id="6" name="Shape 4"/>
          <p:cNvSpPr/>
          <p:nvPr/>
        </p:nvSpPr>
        <p:spPr>
          <a:xfrm>
            <a:off x="548640" y="2240280"/>
            <a:ext cx="3520440" cy="274320"/>
          </a:xfrm>
          <a:prstGeom prst="rect">
            <a:avLst/>
          </a:prstGeom>
          <a:solidFill>
            <a:srgbClr val="0F766E"/>
          </a:solidFill>
          <a:ln/>
        </p:spPr>
      </p:sp>
      <p:sp>
        <p:nvSpPr>
          <p:cNvPr id="7" name="Text 5"/>
          <p:cNvSpPr/>
          <p:nvPr/>
        </p:nvSpPr>
        <p:spPr>
          <a:xfrm>
            <a:off x="777240" y="1783080"/>
            <a:ext cx="1828800" cy="64008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Q7</a:t>
            </a:r>
            <a:endParaRPr lang="en-US" sz="2200" dirty="0"/>
          </a:p>
        </p:txBody>
      </p:sp>
      <p:sp>
        <p:nvSpPr>
          <p:cNvPr id="8" name="Text 6"/>
          <p:cNvSpPr/>
          <p:nvPr/>
        </p:nvSpPr>
        <p:spPr>
          <a:xfrm>
            <a:off x="777240" y="2697480"/>
            <a:ext cx="3063240" cy="914400"/>
          </a:xfrm>
          <a:prstGeom prst="rect">
            <a:avLst/>
          </a:prstGeom>
          <a:noFill/>
          <a:ln/>
        </p:spPr>
        <p:txBody>
          <a:bodyPr wrap="square" rtlCol="0" anchor="ctr"/>
          <a:lstStyle/>
          <a:p>
            <a:pPr indent="0" marL="0">
              <a:lnSpc>
                <a:spcPct val="110000"/>
              </a:lnSpc>
              <a:buNone/>
            </a:pPr>
            <a:r>
              <a:rPr lang="en-US" sz="1700" b="1" dirty="0">
                <a:solidFill>
                  <a:srgbClr val="1A1A1A"/>
                </a:solidFill>
                <a:latin typeface="Calibri" pitchFamily="34" charset="0"/>
                <a:ea typeface="Calibri" pitchFamily="34" charset="-122"/>
                <a:cs typeface="Calibri" pitchFamily="34" charset="-120"/>
              </a:rPr>
              <a:t>Version Spaces &amp;</a:t>
            </a:r>
            <a:endParaRPr lang="en-US" sz="1700" dirty="0"/>
          </a:p>
          <a:p>
            <a:pPr indent="0" marL="0">
              <a:lnSpc>
                <a:spcPct val="110000"/>
              </a:lnSpc>
              <a:buNone/>
            </a:pPr>
            <a:r>
              <a:rPr lang="en-US" sz="1700" b="1" dirty="0">
                <a:solidFill>
                  <a:srgbClr val="1A1A1A"/>
                </a:solidFill>
                <a:latin typeface="Calibri" pitchFamily="34" charset="0"/>
                <a:ea typeface="Calibri" pitchFamily="34" charset="-122"/>
                <a:cs typeface="Calibri" pitchFamily="34" charset="-120"/>
              </a:rPr>
              <a:t>Candidate Elimination</a:t>
            </a:r>
            <a:endParaRPr lang="en-US" sz="1700" dirty="0"/>
          </a:p>
        </p:txBody>
      </p:sp>
      <p:sp>
        <p:nvSpPr>
          <p:cNvPr id="9" name="Text 7"/>
          <p:cNvSpPr/>
          <p:nvPr/>
        </p:nvSpPr>
        <p:spPr>
          <a:xfrm>
            <a:off x="777240" y="3703320"/>
            <a:ext cx="3063240" cy="2011680"/>
          </a:xfrm>
          <a:prstGeom prst="rect">
            <a:avLst/>
          </a:prstGeom>
          <a:noFill/>
          <a:ln/>
        </p:spPr>
        <p:txBody>
          <a:bodyPr wrap="square" rtlCol="0" anchor="ctr"/>
          <a:lstStyle/>
          <a:p>
            <a:pPr indent="0" marL="0">
              <a:lnSpc>
                <a:spcPct val="130000"/>
              </a:lnSpc>
              <a:buNone/>
            </a:pPr>
            <a:r>
              <a:rPr lang="en-US" sz="1250" dirty="0">
                <a:solidFill>
                  <a:srgbClr val="555555"/>
                </a:solidFill>
                <a:latin typeface="Calibri" pitchFamily="34" charset="0"/>
                <a:ea typeface="Calibri" pitchFamily="34" charset="-122"/>
                <a:cs typeface="Calibri" pitchFamily="34" charset="-120"/>
              </a:rPr>
              <a:t>How S and G boundaries narrow down consistent hypotheses as examples arrive.</a:t>
            </a:r>
            <a:endParaRPr lang="en-US" sz="1250" dirty="0"/>
          </a:p>
        </p:txBody>
      </p:sp>
      <p:sp>
        <p:nvSpPr>
          <p:cNvPr id="10" name="Shape 8"/>
          <p:cNvSpPr/>
          <p:nvPr/>
        </p:nvSpPr>
        <p:spPr>
          <a:xfrm>
            <a:off x="4343400" y="1691640"/>
            <a:ext cx="3520440" cy="4297680"/>
          </a:xfrm>
          <a:prstGeom prst="roundRect">
            <a:avLst>
              <a:gd name="adj" fmla="val 2597"/>
            </a:avLst>
          </a:prstGeom>
          <a:solidFill>
            <a:srgbClr val="F4F6F8"/>
          </a:solidFill>
          <a:ln/>
        </p:spPr>
      </p:sp>
      <p:sp>
        <p:nvSpPr>
          <p:cNvPr id="11" name="Shape 9"/>
          <p:cNvSpPr/>
          <p:nvPr/>
        </p:nvSpPr>
        <p:spPr>
          <a:xfrm>
            <a:off x="4343400" y="1691640"/>
            <a:ext cx="3520440" cy="822960"/>
          </a:xfrm>
          <a:prstGeom prst="roundRect">
            <a:avLst>
              <a:gd name="adj" fmla="val 11111"/>
            </a:avLst>
          </a:prstGeom>
          <a:solidFill>
            <a:srgbClr val="B45309"/>
          </a:solidFill>
          <a:ln/>
        </p:spPr>
      </p:sp>
      <p:sp>
        <p:nvSpPr>
          <p:cNvPr id="12" name="Shape 10"/>
          <p:cNvSpPr/>
          <p:nvPr/>
        </p:nvSpPr>
        <p:spPr>
          <a:xfrm>
            <a:off x="4343400" y="2240280"/>
            <a:ext cx="3520440" cy="274320"/>
          </a:xfrm>
          <a:prstGeom prst="rect">
            <a:avLst/>
          </a:prstGeom>
          <a:solidFill>
            <a:srgbClr val="B45309"/>
          </a:solidFill>
          <a:ln/>
        </p:spPr>
      </p:sp>
      <p:sp>
        <p:nvSpPr>
          <p:cNvPr id="13" name="Text 11"/>
          <p:cNvSpPr/>
          <p:nvPr/>
        </p:nvSpPr>
        <p:spPr>
          <a:xfrm>
            <a:off x="4572000" y="1783080"/>
            <a:ext cx="1828800" cy="64008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Q8</a:t>
            </a:r>
            <a:endParaRPr lang="en-US" sz="2200" dirty="0"/>
          </a:p>
        </p:txBody>
      </p:sp>
      <p:sp>
        <p:nvSpPr>
          <p:cNvPr id="14" name="Text 12"/>
          <p:cNvSpPr/>
          <p:nvPr/>
        </p:nvSpPr>
        <p:spPr>
          <a:xfrm>
            <a:off x="4572000" y="2697480"/>
            <a:ext cx="3063240" cy="914400"/>
          </a:xfrm>
          <a:prstGeom prst="rect">
            <a:avLst/>
          </a:prstGeom>
          <a:noFill/>
          <a:ln/>
        </p:spPr>
        <p:txBody>
          <a:bodyPr wrap="square" rtlCol="0" anchor="ctr"/>
          <a:lstStyle/>
          <a:p>
            <a:pPr indent="0" marL="0">
              <a:lnSpc>
                <a:spcPct val="110000"/>
              </a:lnSpc>
              <a:buNone/>
            </a:pPr>
            <a:r>
              <a:rPr lang="en-US" sz="1700" b="1" dirty="0">
                <a:solidFill>
                  <a:srgbClr val="1A1A1A"/>
                </a:solidFill>
                <a:latin typeface="Calibri" pitchFamily="34" charset="0"/>
                <a:ea typeface="Calibri" pitchFamily="34" charset="-122"/>
                <a:cs typeface="Calibri" pitchFamily="34" charset="-120"/>
              </a:rPr>
              <a:t>Inductive Bias in</a:t>
            </a:r>
            <a:endParaRPr lang="en-US" sz="1700" dirty="0"/>
          </a:p>
          <a:p>
            <a:pPr indent="0" marL="0">
              <a:lnSpc>
                <a:spcPct val="110000"/>
              </a:lnSpc>
              <a:buNone/>
            </a:pPr>
            <a:r>
              <a:rPr lang="en-US" sz="1700" b="1" dirty="0">
                <a:solidFill>
                  <a:srgbClr val="1A1A1A"/>
                </a:solidFill>
                <a:latin typeface="Calibri" pitchFamily="34" charset="0"/>
                <a:ea typeface="Calibri" pitchFamily="34" charset="-122"/>
                <a:cs typeface="Calibri" pitchFamily="34" charset="-120"/>
              </a:rPr>
              <a:t>Learning Algorithms</a:t>
            </a:r>
            <a:endParaRPr lang="en-US" sz="1700" dirty="0"/>
          </a:p>
        </p:txBody>
      </p:sp>
      <p:sp>
        <p:nvSpPr>
          <p:cNvPr id="15" name="Text 13"/>
          <p:cNvSpPr/>
          <p:nvPr/>
        </p:nvSpPr>
        <p:spPr>
          <a:xfrm>
            <a:off x="4572000" y="3703320"/>
            <a:ext cx="3063240" cy="2011680"/>
          </a:xfrm>
          <a:prstGeom prst="rect">
            <a:avLst/>
          </a:prstGeom>
          <a:noFill/>
          <a:ln/>
        </p:spPr>
        <p:txBody>
          <a:bodyPr wrap="square" rtlCol="0" anchor="ctr"/>
          <a:lstStyle/>
          <a:p>
            <a:pPr indent="0" marL="0">
              <a:lnSpc>
                <a:spcPct val="130000"/>
              </a:lnSpc>
              <a:buNone/>
            </a:pPr>
            <a:r>
              <a:rPr lang="en-US" sz="1250" dirty="0">
                <a:solidFill>
                  <a:srgbClr val="555555"/>
                </a:solidFill>
                <a:latin typeface="Calibri" pitchFamily="34" charset="0"/>
                <a:ea typeface="Calibri" pitchFamily="34" charset="-122"/>
                <a:cs typeface="Calibri" pitchFamily="34" charset="-120"/>
              </a:rPr>
              <a:t>Why algorithms need built-in assumptions to generalize beyond training data.</a:t>
            </a:r>
            <a:endParaRPr lang="en-US" sz="1250" dirty="0"/>
          </a:p>
        </p:txBody>
      </p:sp>
      <p:sp>
        <p:nvSpPr>
          <p:cNvPr id="16" name="Shape 14"/>
          <p:cNvSpPr/>
          <p:nvPr/>
        </p:nvSpPr>
        <p:spPr>
          <a:xfrm>
            <a:off x="8138160" y="1691640"/>
            <a:ext cx="3520440" cy="4297680"/>
          </a:xfrm>
          <a:prstGeom prst="roundRect">
            <a:avLst>
              <a:gd name="adj" fmla="val 2597"/>
            </a:avLst>
          </a:prstGeom>
          <a:solidFill>
            <a:srgbClr val="F4F6F8"/>
          </a:solidFill>
          <a:ln/>
        </p:spPr>
      </p:sp>
      <p:sp>
        <p:nvSpPr>
          <p:cNvPr id="17" name="Shape 15"/>
          <p:cNvSpPr/>
          <p:nvPr/>
        </p:nvSpPr>
        <p:spPr>
          <a:xfrm>
            <a:off x="8138160" y="1691640"/>
            <a:ext cx="3520440" cy="822960"/>
          </a:xfrm>
          <a:prstGeom prst="roundRect">
            <a:avLst>
              <a:gd name="adj" fmla="val 11111"/>
            </a:avLst>
          </a:prstGeom>
          <a:solidFill>
            <a:srgbClr val="1B2A4A"/>
          </a:solidFill>
          <a:ln/>
        </p:spPr>
      </p:sp>
      <p:sp>
        <p:nvSpPr>
          <p:cNvPr id="18" name="Shape 16"/>
          <p:cNvSpPr/>
          <p:nvPr/>
        </p:nvSpPr>
        <p:spPr>
          <a:xfrm>
            <a:off x="8138160" y="2240280"/>
            <a:ext cx="3520440" cy="274320"/>
          </a:xfrm>
          <a:prstGeom prst="rect">
            <a:avLst/>
          </a:prstGeom>
          <a:solidFill>
            <a:srgbClr val="1B2A4A"/>
          </a:solidFill>
          <a:ln/>
        </p:spPr>
      </p:sp>
      <p:sp>
        <p:nvSpPr>
          <p:cNvPr id="19" name="Text 17"/>
          <p:cNvSpPr/>
          <p:nvPr/>
        </p:nvSpPr>
        <p:spPr>
          <a:xfrm>
            <a:off x="8366760" y="1783080"/>
            <a:ext cx="1828800" cy="64008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Q9</a:t>
            </a:r>
            <a:endParaRPr lang="en-US" sz="2200" dirty="0"/>
          </a:p>
        </p:txBody>
      </p:sp>
      <p:sp>
        <p:nvSpPr>
          <p:cNvPr id="20" name="Text 18"/>
          <p:cNvSpPr/>
          <p:nvPr/>
        </p:nvSpPr>
        <p:spPr>
          <a:xfrm>
            <a:off x="8366760" y="2697480"/>
            <a:ext cx="3063240" cy="914400"/>
          </a:xfrm>
          <a:prstGeom prst="rect">
            <a:avLst/>
          </a:prstGeom>
          <a:noFill/>
          <a:ln/>
        </p:spPr>
        <p:txBody>
          <a:bodyPr wrap="square" rtlCol="0" anchor="ctr"/>
          <a:lstStyle/>
          <a:p>
            <a:pPr indent="0" marL="0">
              <a:lnSpc>
                <a:spcPct val="110000"/>
              </a:lnSpc>
              <a:buNone/>
            </a:pPr>
            <a:r>
              <a:rPr lang="en-US" sz="1700" b="1" dirty="0">
                <a:solidFill>
                  <a:srgbClr val="1A1A1A"/>
                </a:solidFill>
                <a:latin typeface="Calibri" pitchFamily="34" charset="0"/>
                <a:ea typeface="Calibri" pitchFamily="34" charset="-122"/>
                <a:cs typeface="Calibri" pitchFamily="34" charset="-120"/>
              </a:rPr>
              <a:t>Decision Tree Learning</a:t>
            </a:r>
            <a:endParaRPr lang="en-US" sz="1700" dirty="0"/>
          </a:p>
          <a:p>
            <a:pPr indent="0" marL="0">
              <a:lnSpc>
                <a:spcPct val="110000"/>
              </a:lnSpc>
              <a:buNone/>
            </a:pPr>
            <a:r>
              <a:rPr lang="en-US" sz="1700" b="1" dirty="0">
                <a:solidFill>
                  <a:srgbClr val="1A1A1A"/>
                </a:solidFill>
                <a:latin typeface="Calibri" pitchFamily="34" charset="0"/>
                <a:ea typeface="Calibri" pitchFamily="34" charset="-122"/>
                <a:cs typeface="Calibri" pitchFamily="34" charset="-120"/>
              </a:rPr>
              <a:t>&amp; Representation</a:t>
            </a:r>
            <a:endParaRPr lang="en-US" sz="1700" dirty="0"/>
          </a:p>
        </p:txBody>
      </p:sp>
      <p:sp>
        <p:nvSpPr>
          <p:cNvPr id="21" name="Text 19"/>
          <p:cNvSpPr/>
          <p:nvPr/>
        </p:nvSpPr>
        <p:spPr>
          <a:xfrm>
            <a:off x="8366760" y="3703320"/>
            <a:ext cx="3063240" cy="2011680"/>
          </a:xfrm>
          <a:prstGeom prst="rect">
            <a:avLst/>
          </a:prstGeom>
          <a:noFill/>
          <a:ln/>
        </p:spPr>
        <p:txBody>
          <a:bodyPr wrap="square" rtlCol="0" anchor="ctr"/>
          <a:lstStyle/>
          <a:p>
            <a:pPr indent="0" marL="0">
              <a:lnSpc>
                <a:spcPct val="130000"/>
              </a:lnSpc>
              <a:buNone/>
            </a:pPr>
            <a:r>
              <a:rPr lang="en-US" sz="1250" dirty="0">
                <a:solidFill>
                  <a:srgbClr val="555555"/>
                </a:solidFill>
                <a:latin typeface="Calibri" pitchFamily="34" charset="0"/>
                <a:ea typeface="Calibri" pitchFamily="34" charset="-122"/>
                <a:cs typeface="Calibri" pitchFamily="34" charset="-120"/>
              </a:rPr>
              <a:t>Entropy, Information Gain, and how trees choose the best attribute to split on.</a:t>
            </a:r>
            <a:endParaRPr lang="en-US" sz="1250" dirty="0"/>
          </a:p>
        </p:txBody>
      </p:sp>
      <p:sp>
        <p:nvSpPr>
          <p:cNvPr id="22" name="Text 20"/>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ITA 06 — Machine Learning  |  CO1</a:t>
            </a:r>
            <a:endParaRPr lang="en-US" sz="1000" dirty="0"/>
          </a:p>
        </p:txBody>
      </p:sp>
      <p:sp>
        <p:nvSpPr>
          <p:cNvPr id="23" name="Text 21"/>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0F766E"/>
          </a:solidFill>
          <a:ln/>
        </p:spPr>
      </p:sp>
      <p:sp>
        <p:nvSpPr>
          <p:cNvPr id="3" name="Text 1"/>
          <p:cNvSpPr/>
          <p:nvPr/>
        </p:nvSpPr>
        <p:spPr>
          <a:xfrm>
            <a:off x="548640" y="164592"/>
            <a:ext cx="7315200" cy="320040"/>
          </a:xfrm>
          <a:prstGeom prst="rect">
            <a:avLst/>
          </a:prstGeom>
          <a:noFill/>
          <a:ln/>
        </p:spPr>
        <p:txBody>
          <a:bodyPr wrap="square" rtlCol="0" anchor="ctr"/>
          <a:lstStyle/>
          <a:p>
            <a:pPr indent="0" marL="0">
              <a:buNone/>
            </a:pPr>
            <a:r>
              <a:rPr lang="en-US" sz="1300" b="1" spc="200" kern="0" dirty="0">
                <a:solidFill>
                  <a:srgbClr val="E6F4F2"/>
                </a:solidFill>
                <a:latin typeface="Calibri" pitchFamily="34" charset="0"/>
                <a:ea typeface="Calibri" pitchFamily="34" charset="-122"/>
                <a:cs typeface="Calibri" pitchFamily="34" charset="-120"/>
              </a:rPr>
              <a:t>QUESTION 7   ·   5 MARKS</a:t>
            </a:r>
            <a:endParaRPr lang="en-US" sz="1300" dirty="0"/>
          </a:p>
        </p:txBody>
      </p:sp>
      <p:sp>
        <p:nvSpPr>
          <p:cNvPr id="4" name="Text 2"/>
          <p:cNvSpPr/>
          <p:nvPr/>
        </p:nvSpPr>
        <p:spPr>
          <a:xfrm>
            <a:off x="548640" y="457200"/>
            <a:ext cx="1097280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Version Spaces and Candidate Elimination</a:t>
            </a:r>
            <a:endParaRPr lang="en-US" sz="2600" dirty="0"/>
          </a:p>
        </p:txBody>
      </p:sp>
      <p:sp>
        <p:nvSpPr>
          <p:cNvPr id="5" name="Shape 3"/>
          <p:cNvSpPr/>
          <p:nvPr/>
        </p:nvSpPr>
        <p:spPr>
          <a:xfrm>
            <a:off x="548640" y="1325880"/>
            <a:ext cx="11064240" cy="1051560"/>
          </a:xfrm>
          <a:prstGeom prst="roundRect">
            <a:avLst>
              <a:gd name="adj" fmla="val 6957"/>
            </a:avLst>
          </a:prstGeom>
          <a:solidFill>
            <a:srgbClr val="E6F4F2"/>
          </a:solidFill>
          <a:ln/>
        </p:spPr>
      </p:sp>
      <p:sp>
        <p:nvSpPr>
          <p:cNvPr id="6" name="Text 4"/>
          <p:cNvSpPr/>
          <p:nvPr/>
        </p:nvSpPr>
        <p:spPr>
          <a:xfrm>
            <a:off x="777240" y="1417320"/>
            <a:ext cx="10607040" cy="914400"/>
          </a:xfrm>
          <a:prstGeom prst="rect">
            <a:avLst/>
          </a:prstGeom>
          <a:noFill/>
          <a:ln/>
        </p:spPr>
        <p:txBody>
          <a:bodyPr wrap="square" rtlCol="0" anchor="ctr"/>
          <a:lstStyle/>
          <a:p>
            <a:pPr indent="0" marL="0">
              <a:lnSpc>
                <a:spcPct val="125000"/>
              </a:lnSpc>
              <a:buNone/>
            </a:pPr>
            <a:r>
              <a:rPr lang="en-US" sz="1250" b="1" i="1" dirty="0">
                <a:solidFill>
                  <a:srgbClr val="0F766E"/>
                </a:solidFill>
                <a:latin typeface="Calibri" pitchFamily="34" charset="0"/>
                <a:ea typeface="Calibri" pitchFamily="34" charset="-122"/>
                <a:cs typeface="Calibri" pitchFamily="34" charset="-120"/>
              </a:rPr>
              <a:t>Q: </a:t>
            </a:r>
            <a:pPr indent="0" marL="0">
              <a:lnSpc>
                <a:spcPct val="125000"/>
              </a:lnSpc>
              <a:buNone/>
            </a:pPr>
            <a:r>
              <a:rPr lang="en-US" sz="1250" i="1" dirty="0">
                <a:solidFill>
                  <a:srgbClr val="1A1A1A"/>
                </a:solidFill>
                <a:latin typeface="Calibri" pitchFamily="34" charset="0"/>
                <a:ea typeface="Calibri" pitchFamily="34" charset="-122"/>
                <a:cs typeface="Calibri" pitchFamily="34" charset="-120"/>
              </a:rPr>
              <a:t>Explain the concept of version spaces and how they represent all hypotheses consistent with training data. Describe the Candidate Elimination algorithm, including the roles of specific (S) and general (G) boundaries, and how they update with positive and negative examples.</a:t>
            </a:r>
            <a:endParaRPr lang="en-US" sz="1250" dirty="0"/>
          </a:p>
        </p:txBody>
      </p:sp>
      <p:sp>
        <p:nvSpPr>
          <p:cNvPr id="7" name="Text 5"/>
          <p:cNvSpPr/>
          <p:nvPr/>
        </p:nvSpPr>
        <p:spPr>
          <a:xfrm>
            <a:off x="548640" y="2606040"/>
            <a:ext cx="4572000" cy="36576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Definition</a:t>
            </a:r>
            <a:endParaRPr lang="en-US" sz="1600" dirty="0"/>
          </a:p>
        </p:txBody>
      </p:sp>
      <p:sp>
        <p:nvSpPr>
          <p:cNvPr id="8" name="Text 6"/>
          <p:cNvSpPr/>
          <p:nvPr/>
        </p:nvSpPr>
        <p:spPr>
          <a:xfrm>
            <a:off x="548640" y="3017520"/>
            <a:ext cx="5486400" cy="2377440"/>
          </a:xfrm>
          <a:prstGeom prst="rect">
            <a:avLst/>
          </a:prstGeom>
          <a:noFill/>
          <a:ln/>
        </p:spPr>
        <p:txBody>
          <a:bodyPr wrap="square" rtlCol="0" anchor="ctr"/>
          <a:lstStyle/>
          <a:p>
            <a:pPr indent="0" marL="0">
              <a:lnSpc>
                <a:spcPct val="130000"/>
              </a:lnSpc>
              <a:buNone/>
            </a:pPr>
            <a:r>
              <a:rPr lang="en-US" sz="1300" dirty="0">
                <a:solidFill>
                  <a:srgbClr val="555555"/>
                </a:solidFill>
                <a:latin typeface="Calibri" pitchFamily="34" charset="0"/>
                <a:ea typeface="Calibri" pitchFamily="34" charset="-122"/>
                <a:cs typeface="Calibri" pitchFamily="34" charset="-120"/>
              </a:rPr>
              <a:t>A version space is the subset of all hypotheses in the hypothesis space H that are consistent with every training example seen so far.
</a:t>
            </a:r>
            <a:pPr indent="0" marL="0">
              <a:lnSpc>
                <a:spcPct val="130000"/>
              </a:lnSpc>
              <a:buNone/>
            </a:pPr>
            <a:r>
              <a:rPr lang="en-US" sz="1300" dirty="0">
                <a:solidFill>
                  <a:srgbClr val="555555"/>
                </a:solidFill>
                <a:latin typeface="Calibri" pitchFamily="34" charset="0"/>
                <a:ea typeface="Calibri" pitchFamily="34" charset="-122"/>
                <a:cs typeface="Calibri" pitchFamily="34" charset="-120"/>
              </a:rPr>
              <a:t>Instead of tracking every consistent hypothesis individually, it is compactly represented using only its two boundaries:</a:t>
            </a:r>
            <a:endParaRPr lang="en-US" sz="1300" dirty="0"/>
          </a:p>
        </p:txBody>
      </p:sp>
      <p:sp>
        <p:nvSpPr>
          <p:cNvPr id="9" name="Shape 7"/>
          <p:cNvSpPr/>
          <p:nvPr/>
        </p:nvSpPr>
        <p:spPr>
          <a:xfrm>
            <a:off x="6400800" y="2606040"/>
            <a:ext cx="5212080" cy="3657600"/>
          </a:xfrm>
          <a:prstGeom prst="roundRect">
            <a:avLst>
              <a:gd name="adj" fmla="val 2000"/>
            </a:avLst>
          </a:prstGeom>
          <a:solidFill>
            <a:srgbClr val="F4F6F8"/>
          </a:solidFill>
          <a:ln/>
        </p:spPr>
      </p:sp>
      <p:sp>
        <p:nvSpPr>
          <p:cNvPr id="10" name="Text 8"/>
          <p:cNvSpPr/>
          <p:nvPr/>
        </p:nvSpPr>
        <p:spPr>
          <a:xfrm>
            <a:off x="6629400" y="2743200"/>
            <a:ext cx="4754880" cy="32004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VS(H, D) — bounded by two sets</a:t>
            </a:r>
            <a:endParaRPr lang="en-US" sz="1200" dirty="0"/>
          </a:p>
        </p:txBody>
      </p:sp>
      <p:sp>
        <p:nvSpPr>
          <p:cNvPr id="11" name="Shape 9"/>
          <p:cNvSpPr/>
          <p:nvPr/>
        </p:nvSpPr>
        <p:spPr>
          <a:xfrm>
            <a:off x="6720840" y="3246120"/>
            <a:ext cx="4480560" cy="1005840"/>
          </a:xfrm>
          <a:prstGeom prst="roundRect">
            <a:avLst>
              <a:gd name="adj" fmla="val 5455"/>
            </a:avLst>
          </a:prstGeom>
          <a:solidFill>
            <a:srgbClr val="FFFFFF"/>
          </a:solidFill>
          <a:ln w="19050">
            <a:solidFill>
              <a:srgbClr val="B45309"/>
            </a:solidFill>
            <a:prstDash val="solid"/>
          </a:ln>
        </p:spPr>
      </p:sp>
      <p:sp>
        <p:nvSpPr>
          <p:cNvPr id="12" name="Text 10"/>
          <p:cNvSpPr/>
          <p:nvPr/>
        </p:nvSpPr>
        <p:spPr>
          <a:xfrm>
            <a:off x="6903720" y="3337560"/>
            <a:ext cx="4114800" cy="822960"/>
          </a:xfrm>
          <a:prstGeom prst="rect">
            <a:avLst/>
          </a:prstGeom>
          <a:noFill/>
          <a:ln/>
        </p:spPr>
        <p:txBody>
          <a:bodyPr wrap="square" rtlCol="0" anchor="ctr"/>
          <a:lstStyle/>
          <a:p>
            <a:pPr indent="0" marL="0">
              <a:lnSpc>
                <a:spcPct val="115000"/>
              </a:lnSpc>
              <a:buNone/>
            </a:pPr>
            <a:r>
              <a:rPr lang="en-US" sz="1250" b="1" dirty="0">
                <a:solidFill>
                  <a:srgbClr val="B45309"/>
                </a:solidFill>
                <a:latin typeface="Calibri" pitchFamily="34" charset="0"/>
                <a:ea typeface="Calibri" pitchFamily="34" charset="-122"/>
                <a:cs typeface="Calibri" pitchFamily="34" charset="-120"/>
              </a:rPr>
              <a:t>G — General boundary
</a:t>
            </a:r>
            <a:pPr indent="0" marL="0">
              <a:lnSpc>
                <a:spcPct val="115000"/>
              </a:lnSpc>
              <a:buNone/>
            </a:pPr>
            <a:r>
              <a:rPr lang="en-US" sz="1100" dirty="0">
                <a:solidFill>
                  <a:srgbClr val="555555"/>
                </a:solidFill>
                <a:latin typeface="Calibri" pitchFamily="34" charset="0"/>
                <a:ea typeface="Calibri" pitchFamily="34" charset="-122"/>
                <a:cs typeface="Calibri" pitchFamily="34" charset="-120"/>
              </a:rPr>
              <a:t>Maximally general hypotheses consistent with D</a:t>
            </a:r>
            <a:endParaRPr lang="en-US" sz="1250" dirty="0"/>
          </a:p>
        </p:txBody>
      </p:sp>
      <p:sp>
        <p:nvSpPr>
          <p:cNvPr id="13" name="Shape 11"/>
          <p:cNvSpPr/>
          <p:nvPr/>
        </p:nvSpPr>
        <p:spPr>
          <a:xfrm>
            <a:off x="8961120" y="4251960"/>
            <a:ext cx="0" cy="502920"/>
          </a:xfrm>
          <a:prstGeom prst="line">
            <a:avLst/>
          </a:prstGeom>
          <a:noFill/>
          <a:ln w="19050">
            <a:solidFill>
              <a:srgbClr val="999999"/>
            </a:solidFill>
            <a:prstDash val="dash"/>
          </a:ln>
        </p:spPr>
      </p:sp>
      <p:sp>
        <p:nvSpPr>
          <p:cNvPr id="14" name="Text 12"/>
          <p:cNvSpPr/>
          <p:nvPr/>
        </p:nvSpPr>
        <p:spPr>
          <a:xfrm>
            <a:off x="9144000" y="4279392"/>
            <a:ext cx="2011680" cy="457200"/>
          </a:xfrm>
          <a:prstGeom prst="rect">
            <a:avLst/>
          </a:prstGeom>
          <a:noFill/>
          <a:ln/>
        </p:spPr>
        <p:txBody>
          <a:bodyPr wrap="square" rtlCol="0" anchor="ctr"/>
          <a:lstStyle/>
          <a:p>
            <a:pPr indent="0" marL="0">
              <a:buNone/>
            </a:pPr>
            <a:r>
              <a:rPr lang="en-US" sz="950" i="1" dirty="0">
                <a:solidFill>
                  <a:srgbClr val="888888"/>
                </a:solidFill>
                <a:latin typeface="Calibri" pitchFamily="34" charset="0"/>
                <a:ea typeface="Calibri" pitchFamily="34" charset="-122"/>
                <a:cs typeface="Calibri" pitchFamily="34" charset="-120"/>
              </a:rPr>
              <a:t>all hypotheses in</a:t>
            </a:r>
            <a:endParaRPr lang="en-US" sz="950" dirty="0"/>
          </a:p>
          <a:p>
            <a:pPr indent="0" marL="0">
              <a:buNone/>
            </a:pPr>
            <a:r>
              <a:rPr lang="en-US" sz="950" i="1" dirty="0">
                <a:solidFill>
                  <a:srgbClr val="888888"/>
                </a:solidFill>
                <a:latin typeface="Calibri" pitchFamily="34" charset="0"/>
                <a:ea typeface="Calibri" pitchFamily="34" charset="-122"/>
                <a:cs typeface="Calibri" pitchFamily="34" charset="-120"/>
              </a:rPr>
              <a:t>between are consistent</a:t>
            </a:r>
            <a:endParaRPr lang="en-US" sz="950" dirty="0"/>
          </a:p>
        </p:txBody>
      </p:sp>
      <p:sp>
        <p:nvSpPr>
          <p:cNvPr id="15" name="Shape 13"/>
          <p:cNvSpPr/>
          <p:nvPr/>
        </p:nvSpPr>
        <p:spPr>
          <a:xfrm>
            <a:off x="6720840" y="4892040"/>
            <a:ext cx="4480560" cy="1005840"/>
          </a:xfrm>
          <a:prstGeom prst="roundRect">
            <a:avLst>
              <a:gd name="adj" fmla="val 5455"/>
            </a:avLst>
          </a:prstGeom>
          <a:solidFill>
            <a:srgbClr val="FFFFFF"/>
          </a:solidFill>
          <a:ln w="19050">
            <a:solidFill>
              <a:srgbClr val="0F766E"/>
            </a:solidFill>
            <a:prstDash val="solid"/>
          </a:ln>
        </p:spPr>
      </p:sp>
      <p:sp>
        <p:nvSpPr>
          <p:cNvPr id="16" name="Text 14"/>
          <p:cNvSpPr/>
          <p:nvPr/>
        </p:nvSpPr>
        <p:spPr>
          <a:xfrm>
            <a:off x="6903720" y="4983480"/>
            <a:ext cx="4114800" cy="822960"/>
          </a:xfrm>
          <a:prstGeom prst="rect">
            <a:avLst/>
          </a:prstGeom>
          <a:noFill/>
          <a:ln/>
        </p:spPr>
        <p:txBody>
          <a:bodyPr wrap="square" rtlCol="0" anchor="ctr"/>
          <a:lstStyle/>
          <a:p>
            <a:pPr indent="0" marL="0">
              <a:lnSpc>
                <a:spcPct val="115000"/>
              </a:lnSpc>
              <a:buNone/>
            </a:pPr>
            <a:r>
              <a:rPr lang="en-US" sz="1250" b="1" dirty="0">
                <a:solidFill>
                  <a:srgbClr val="0F766E"/>
                </a:solidFill>
                <a:latin typeface="Calibri" pitchFamily="34" charset="0"/>
                <a:ea typeface="Calibri" pitchFamily="34" charset="-122"/>
                <a:cs typeface="Calibri" pitchFamily="34" charset="-120"/>
              </a:rPr>
              <a:t>S — Specific boundary
</a:t>
            </a:r>
            <a:pPr indent="0" marL="0">
              <a:lnSpc>
                <a:spcPct val="115000"/>
              </a:lnSpc>
              <a:buNone/>
            </a:pPr>
            <a:r>
              <a:rPr lang="en-US" sz="1100" dirty="0">
                <a:solidFill>
                  <a:srgbClr val="555555"/>
                </a:solidFill>
                <a:latin typeface="Calibri" pitchFamily="34" charset="0"/>
                <a:ea typeface="Calibri" pitchFamily="34" charset="-122"/>
                <a:cs typeface="Calibri" pitchFamily="34" charset="-120"/>
              </a:rPr>
              <a:t>Maximally specific hypotheses consistent with D</a:t>
            </a:r>
            <a:endParaRPr lang="en-US" sz="1250" dirty="0"/>
          </a:p>
        </p:txBody>
      </p:sp>
      <p:sp>
        <p:nvSpPr>
          <p:cNvPr id="17" name="Text 15"/>
          <p:cNvSpPr/>
          <p:nvPr/>
        </p:nvSpPr>
        <p:spPr>
          <a:xfrm>
            <a:off x="548640" y="5074920"/>
            <a:ext cx="5486400" cy="457200"/>
          </a:xfrm>
          <a:prstGeom prst="rect">
            <a:avLst/>
          </a:prstGeom>
          <a:noFill/>
          <a:ln/>
        </p:spPr>
        <p:txBody>
          <a:bodyPr wrap="square" rtlCol="0" anchor="ctr"/>
          <a:lstStyle/>
          <a:p>
            <a:pPr indent="0" marL="0">
              <a:buNone/>
            </a:pPr>
            <a:r>
              <a:rPr lang="en-US" sz="1300" b="1" dirty="0">
                <a:solidFill>
                  <a:srgbClr val="1B2A4A"/>
                </a:solidFill>
                <a:latin typeface="Consolas" pitchFamily="34" charset="0"/>
                <a:ea typeface="Consolas" pitchFamily="34" charset="-122"/>
                <a:cs typeface="Consolas" pitchFamily="34" charset="-120"/>
              </a:rPr>
              <a:t>VS(H,D) = { h ∈ H | Consistent(h, D) }</a:t>
            </a:r>
            <a:endParaRPr lang="en-US" sz="1300" dirty="0"/>
          </a:p>
        </p:txBody>
      </p:sp>
      <p:sp>
        <p:nvSpPr>
          <p:cNvPr id="18" name="Text 16"/>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ITA 06 — Machine Learning  |  CO1</a:t>
            </a:r>
            <a:endParaRPr lang="en-US" sz="1000" dirty="0"/>
          </a:p>
        </p:txBody>
      </p:sp>
      <p:sp>
        <p:nvSpPr>
          <p:cNvPr id="19" name="Text 17"/>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02920"/>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Candidate Elimination — Update Rules</a:t>
            </a:r>
            <a:endParaRPr lang="en-US" sz="2600" dirty="0"/>
          </a:p>
        </p:txBody>
      </p:sp>
      <p:sp>
        <p:nvSpPr>
          <p:cNvPr id="3" name="Shape 1"/>
          <p:cNvSpPr/>
          <p:nvPr/>
        </p:nvSpPr>
        <p:spPr>
          <a:xfrm>
            <a:off x="548640" y="914400"/>
            <a:ext cx="11064240" cy="0"/>
          </a:xfrm>
          <a:prstGeom prst="line">
            <a:avLst/>
          </a:prstGeom>
          <a:noFill/>
          <a:ln w="12700">
            <a:solidFill>
              <a:srgbClr val="DDDDDD"/>
            </a:solidFill>
            <a:prstDash val="solid"/>
          </a:ln>
        </p:spPr>
      </p:sp>
      <p:sp>
        <p:nvSpPr>
          <p:cNvPr id="4" name="Shape 2"/>
          <p:cNvSpPr/>
          <p:nvPr/>
        </p:nvSpPr>
        <p:spPr>
          <a:xfrm>
            <a:off x="548640" y="1188720"/>
            <a:ext cx="5440680" cy="2468880"/>
          </a:xfrm>
          <a:prstGeom prst="roundRect">
            <a:avLst>
              <a:gd name="adj" fmla="val 2963"/>
            </a:avLst>
          </a:prstGeom>
          <a:solidFill>
            <a:srgbClr val="E6F4F2"/>
          </a:solidFill>
          <a:ln/>
        </p:spPr>
      </p:sp>
      <p:sp>
        <p:nvSpPr>
          <p:cNvPr id="5" name="Text 3"/>
          <p:cNvSpPr/>
          <p:nvPr/>
        </p:nvSpPr>
        <p:spPr>
          <a:xfrm>
            <a:off x="777240" y="1325880"/>
            <a:ext cx="4937760" cy="365760"/>
          </a:xfrm>
          <a:prstGeom prst="rect">
            <a:avLst/>
          </a:prstGeom>
          <a:noFill/>
          <a:ln/>
        </p:spPr>
        <p:txBody>
          <a:bodyPr wrap="square" rtlCol="0" anchor="ctr"/>
          <a:lstStyle/>
          <a:p>
            <a:pPr indent="0" marL="0">
              <a:buNone/>
            </a:pPr>
            <a:r>
              <a:rPr lang="en-US" sz="1500" b="1" dirty="0">
                <a:solidFill>
                  <a:srgbClr val="0F766E"/>
                </a:solidFill>
                <a:latin typeface="Calibri" pitchFamily="34" charset="0"/>
                <a:ea typeface="Calibri" pitchFamily="34" charset="-122"/>
                <a:cs typeface="Calibri" pitchFamily="34" charset="-120"/>
              </a:rPr>
              <a:t>On a POSITIVE example</a:t>
            </a:r>
            <a:endParaRPr lang="en-US" sz="1500" dirty="0"/>
          </a:p>
        </p:txBody>
      </p:sp>
      <p:sp>
        <p:nvSpPr>
          <p:cNvPr id="6" name="Text 4"/>
          <p:cNvSpPr/>
          <p:nvPr/>
        </p:nvSpPr>
        <p:spPr>
          <a:xfrm>
            <a:off x="822960" y="1783080"/>
            <a:ext cx="4937760" cy="1737360"/>
          </a:xfrm>
          <a:prstGeom prst="rect">
            <a:avLst/>
          </a:prstGeom>
          <a:noFill/>
          <a:ln/>
        </p:spPr>
        <p:txBody>
          <a:bodyPr wrap="square" rtlCol="0" anchor="ctr"/>
          <a:lstStyle/>
          <a:p>
            <a:pPr indent="0" marL="0">
              <a:lnSpc>
                <a:spcPct val="135000"/>
              </a:lnSpc>
              <a:spcAft>
                <a:spcPts val="600"/>
              </a:spcAft>
              <a:buNone/>
            </a:pPr>
            <a:r>
              <a:rPr lang="en-US" sz="1200" dirty="0">
                <a:solidFill>
                  <a:srgbClr val="1A1A1A"/>
                </a:solidFill>
                <a:latin typeface="Calibri" pitchFamily="34" charset="0"/>
                <a:ea typeface="Calibri" pitchFamily="34" charset="-122"/>
                <a:cs typeface="Calibri" pitchFamily="34" charset="-120"/>
              </a:rPr>
              <a:t>• Remove from G any hypothesis inconsistent with the example
</a:t>
            </a:r>
            <a:pPr indent="0" marL="0">
              <a:lnSpc>
                <a:spcPct val="135000"/>
              </a:lnSpc>
              <a:spcAft>
                <a:spcPts val="600"/>
              </a:spcAft>
              <a:buNone/>
            </a:pPr>
            <a:r>
              <a:rPr lang="en-US" sz="1200" dirty="0">
                <a:solidFill>
                  <a:srgbClr val="1A1A1A"/>
                </a:solidFill>
                <a:latin typeface="Calibri" pitchFamily="34" charset="0"/>
                <a:ea typeface="Calibri" pitchFamily="34" charset="-122"/>
                <a:cs typeface="Calibri" pitchFamily="34" charset="-120"/>
              </a:rPr>
              <a:t>• Generalize S just enough so every member covers the new example
</a:t>
            </a:r>
            <a:pPr indent="0" marL="0">
              <a:lnSpc>
                <a:spcPct val="135000"/>
              </a:lnSpc>
              <a:spcAft>
                <a:spcPts val="600"/>
              </a:spcAft>
              <a:buNone/>
            </a:pPr>
            <a:r>
              <a:rPr lang="en-US" sz="1200" dirty="0">
                <a:solidFill>
                  <a:srgbClr val="1A1A1A"/>
                </a:solidFill>
                <a:latin typeface="Calibri" pitchFamily="34" charset="0"/>
                <a:ea typeface="Calibri" pitchFamily="34" charset="-122"/>
                <a:cs typeface="Calibri" pitchFamily="34" charset="-120"/>
              </a:rPr>
              <a:t>• Remove from S any hypothesis more general than another in S
</a:t>
            </a:r>
            <a:pPr indent="0" marL="0">
              <a:lnSpc>
                <a:spcPct val="135000"/>
              </a:lnSpc>
              <a:spcAft>
                <a:spcPts val="600"/>
              </a:spcAft>
              <a:buNone/>
            </a:pPr>
            <a:r>
              <a:rPr lang="en-US" sz="1200" dirty="0">
                <a:solidFill>
                  <a:srgbClr val="1A1A1A"/>
                </a:solidFill>
                <a:latin typeface="Calibri" pitchFamily="34" charset="0"/>
                <a:ea typeface="Calibri" pitchFamily="34" charset="-122"/>
                <a:cs typeface="Calibri" pitchFamily="34" charset="-120"/>
              </a:rPr>
              <a:t>• Remove from S any hypothesis not more specific than some hypothesis in G</a:t>
            </a:r>
            <a:endParaRPr lang="en-US" sz="1200" dirty="0"/>
          </a:p>
        </p:txBody>
      </p:sp>
      <p:sp>
        <p:nvSpPr>
          <p:cNvPr id="7" name="Shape 5"/>
          <p:cNvSpPr/>
          <p:nvPr/>
        </p:nvSpPr>
        <p:spPr>
          <a:xfrm>
            <a:off x="6172200" y="1188720"/>
            <a:ext cx="5440680" cy="2468880"/>
          </a:xfrm>
          <a:prstGeom prst="roundRect">
            <a:avLst>
              <a:gd name="adj" fmla="val 2963"/>
            </a:avLst>
          </a:prstGeom>
          <a:solidFill>
            <a:srgbClr val="FDF3E7"/>
          </a:solidFill>
          <a:ln/>
        </p:spPr>
      </p:sp>
      <p:sp>
        <p:nvSpPr>
          <p:cNvPr id="8" name="Text 6"/>
          <p:cNvSpPr/>
          <p:nvPr/>
        </p:nvSpPr>
        <p:spPr>
          <a:xfrm>
            <a:off x="6400800" y="1325880"/>
            <a:ext cx="4937760" cy="365760"/>
          </a:xfrm>
          <a:prstGeom prst="rect">
            <a:avLst/>
          </a:prstGeom>
          <a:noFill/>
          <a:ln/>
        </p:spPr>
        <p:txBody>
          <a:bodyPr wrap="square" rtlCol="0" anchor="ctr"/>
          <a:lstStyle/>
          <a:p>
            <a:pPr indent="0" marL="0">
              <a:buNone/>
            </a:pPr>
            <a:r>
              <a:rPr lang="en-US" sz="1500" b="1" dirty="0">
                <a:solidFill>
                  <a:srgbClr val="B45309"/>
                </a:solidFill>
                <a:latin typeface="Calibri" pitchFamily="34" charset="0"/>
                <a:ea typeface="Calibri" pitchFamily="34" charset="-122"/>
                <a:cs typeface="Calibri" pitchFamily="34" charset="-120"/>
              </a:rPr>
              <a:t>On a NEGATIVE example</a:t>
            </a:r>
            <a:endParaRPr lang="en-US" sz="1500" dirty="0"/>
          </a:p>
        </p:txBody>
      </p:sp>
      <p:sp>
        <p:nvSpPr>
          <p:cNvPr id="9" name="Text 7"/>
          <p:cNvSpPr/>
          <p:nvPr/>
        </p:nvSpPr>
        <p:spPr>
          <a:xfrm>
            <a:off x="6400800" y="1783080"/>
            <a:ext cx="4937760" cy="1737360"/>
          </a:xfrm>
          <a:prstGeom prst="rect">
            <a:avLst/>
          </a:prstGeom>
          <a:noFill/>
          <a:ln/>
        </p:spPr>
        <p:txBody>
          <a:bodyPr wrap="square" rtlCol="0" anchor="ctr"/>
          <a:lstStyle/>
          <a:p>
            <a:pPr indent="0" marL="0">
              <a:lnSpc>
                <a:spcPct val="135000"/>
              </a:lnSpc>
              <a:spcAft>
                <a:spcPts val="600"/>
              </a:spcAft>
              <a:buNone/>
            </a:pPr>
            <a:r>
              <a:rPr lang="en-US" sz="1200" dirty="0">
                <a:solidFill>
                  <a:srgbClr val="1A1A1A"/>
                </a:solidFill>
                <a:latin typeface="Calibri" pitchFamily="34" charset="0"/>
                <a:ea typeface="Calibri" pitchFamily="34" charset="-122"/>
                <a:cs typeface="Calibri" pitchFamily="34" charset="-120"/>
              </a:rPr>
              <a:t>• Remove from S any hypothesis inconsistent with the example
</a:t>
            </a:r>
            <a:pPr indent="0" marL="0">
              <a:lnSpc>
                <a:spcPct val="135000"/>
              </a:lnSpc>
              <a:spcAft>
                <a:spcPts val="600"/>
              </a:spcAft>
              <a:buNone/>
            </a:pPr>
            <a:r>
              <a:rPr lang="en-US" sz="1200" dirty="0">
                <a:solidFill>
                  <a:srgbClr val="1A1A1A"/>
                </a:solidFill>
                <a:latin typeface="Calibri" pitchFamily="34" charset="0"/>
                <a:ea typeface="Calibri" pitchFamily="34" charset="-122"/>
                <a:cs typeface="Calibri" pitchFamily="34" charset="-120"/>
              </a:rPr>
              <a:t>• Specialize G just enough so no member covers the negative example
</a:t>
            </a:r>
            <a:pPr indent="0" marL="0">
              <a:lnSpc>
                <a:spcPct val="135000"/>
              </a:lnSpc>
              <a:spcAft>
                <a:spcPts val="600"/>
              </a:spcAft>
              <a:buNone/>
            </a:pPr>
            <a:r>
              <a:rPr lang="en-US" sz="1200" dirty="0">
                <a:solidFill>
                  <a:srgbClr val="1A1A1A"/>
                </a:solidFill>
                <a:latin typeface="Calibri" pitchFamily="34" charset="0"/>
                <a:ea typeface="Calibri" pitchFamily="34" charset="-122"/>
                <a:cs typeface="Calibri" pitchFamily="34" charset="-120"/>
              </a:rPr>
              <a:t>• Remove from G any hypothesis less general than another in G
</a:t>
            </a:r>
            <a:pPr indent="0" marL="0">
              <a:lnSpc>
                <a:spcPct val="135000"/>
              </a:lnSpc>
              <a:spcAft>
                <a:spcPts val="600"/>
              </a:spcAft>
              <a:buNone/>
            </a:pPr>
            <a:r>
              <a:rPr lang="en-US" sz="1200" dirty="0">
                <a:solidFill>
                  <a:srgbClr val="1A1A1A"/>
                </a:solidFill>
                <a:latin typeface="Calibri" pitchFamily="34" charset="0"/>
                <a:ea typeface="Calibri" pitchFamily="34" charset="-122"/>
                <a:cs typeface="Calibri" pitchFamily="34" charset="-120"/>
              </a:rPr>
              <a:t>• Remove from G any hypothesis not more general than some hypothesis in S</a:t>
            </a:r>
            <a:endParaRPr lang="en-US" sz="1200" dirty="0"/>
          </a:p>
        </p:txBody>
      </p:sp>
      <p:sp>
        <p:nvSpPr>
          <p:cNvPr id="10" name="Shape 8"/>
          <p:cNvSpPr/>
          <p:nvPr/>
        </p:nvSpPr>
        <p:spPr>
          <a:xfrm>
            <a:off x="548640" y="3840480"/>
            <a:ext cx="11064240" cy="1417320"/>
          </a:xfrm>
          <a:prstGeom prst="roundRect">
            <a:avLst>
              <a:gd name="adj" fmla="val 5161"/>
            </a:avLst>
          </a:prstGeom>
          <a:solidFill>
            <a:srgbClr val="F4F6F8"/>
          </a:solidFill>
          <a:ln/>
        </p:spPr>
      </p:sp>
      <p:sp>
        <p:nvSpPr>
          <p:cNvPr id="11" name="Text 9"/>
          <p:cNvSpPr/>
          <p:nvPr/>
        </p:nvSpPr>
        <p:spPr>
          <a:xfrm>
            <a:off x="777240" y="3977640"/>
            <a:ext cx="3657600" cy="365760"/>
          </a:xfrm>
          <a:prstGeom prst="rect">
            <a:avLst/>
          </a:prstGeom>
          <a:noFill/>
          <a:ln/>
        </p:spPr>
        <p:txBody>
          <a:bodyPr wrap="square"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Convergence</a:t>
            </a:r>
            <a:endParaRPr lang="en-US" sz="1400" dirty="0"/>
          </a:p>
        </p:txBody>
      </p:sp>
      <p:sp>
        <p:nvSpPr>
          <p:cNvPr id="12" name="Text 10"/>
          <p:cNvSpPr/>
          <p:nvPr/>
        </p:nvSpPr>
        <p:spPr>
          <a:xfrm>
            <a:off x="777240" y="4343400"/>
            <a:ext cx="10607040" cy="822960"/>
          </a:xfrm>
          <a:prstGeom prst="rect">
            <a:avLst/>
          </a:prstGeom>
          <a:noFill/>
          <a:ln/>
        </p:spPr>
        <p:txBody>
          <a:bodyPr wrap="square" rtlCol="0" anchor="ctr"/>
          <a:lstStyle/>
          <a:p>
            <a:pPr indent="0" marL="0">
              <a:lnSpc>
                <a:spcPct val="130000"/>
              </a:lnSpc>
              <a:buNone/>
            </a:pPr>
            <a:r>
              <a:rPr lang="en-US" sz="1250" dirty="0">
                <a:solidFill>
                  <a:srgbClr val="555555"/>
                </a:solidFill>
                <a:latin typeface="Calibri" pitchFamily="34" charset="0"/>
                <a:ea typeface="Calibri" pitchFamily="34" charset="-122"/>
                <a:cs typeface="Calibri" pitchFamily="34" charset="-120"/>
              </a:rPr>
              <a:t>The algorithm converges when S = G = a single hypothesis — this is the target concept, provided the hypothesis space contains it and training data is noise-free.</a:t>
            </a:r>
            <a:endParaRPr lang="en-US" sz="1250" dirty="0"/>
          </a:p>
        </p:txBody>
      </p:sp>
      <p:sp>
        <p:nvSpPr>
          <p:cNvPr id="13" name="Text 11"/>
          <p:cNvSpPr/>
          <p:nvPr/>
        </p:nvSpPr>
        <p:spPr>
          <a:xfrm>
            <a:off x="548640" y="5440680"/>
            <a:ext cx="9144000" cy="365760"/>
          </a:xfrm>
          <a:prstGeom prst="rect">
            <a:avLst/>
          </a:prstGeom>
          <a:noFill/>
          <a:ln/>
        </p:spPr>
        <p:txBody>
          <a:bodyPr wrap="square"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Significance for classification &amp; knowledge extraction</a:t>
            </a:r>
            <a:endParaRPr lang="en-US" sz="1400" dirty="0"/>
          </a:p>
        </p:txBody>
      </p:sp>
      <p:sp>
        <p:nvSpPr>
          <p:cNvPr id="14" name="Text 12"/>
          <p:cNvSpPr/>
          <p:nvPr/>
        </p:nvSpPr>
        <p:spPr>
          <a:xfrm>
            <a:off x="548640" y="5806440"/>
            <a:ext cx="11064240" cy="822960"/>
          </a:xfrm>
          <a:prstGeom prst="rect">
            <a:avLst/>
          </a:prstGeom>
          <a:noFill/>
          <a:ln/>
        </p:spPr>
        <p:txBody>
          <a:bodyPr wrap="square" rtlCol="0" anchor="ctr"/>
          <a:lstStyle/>
          <a:p>
            <a:pPr indent="0" marL="0">
              <a:lnSpc>
                <a:spcPct val="125000"/>
              </a:lnSpc>
              <a:buNone/>
            </a:pPr>
            <a:r>
              <a:rPr lang="en-US" sz="1200" dirty="0">
                <a:solidFill>
                  <a:srgbClr val="555555"/>
                </a:solidFill>
                <a:latin typeface="Calibri" pitchFamily="34" charset="0"/>
                <a:ea typeface="Calibri" pitchFamily="34" charset="-122"/>
                <a:cs typeface="Calibri" pitchFamily="34" charset="-120"/>
              </a:rPr>
              <a:t>Any hypothesis strictly between S and G is guaranteed consistent with all data seen — so the version space itself can classify new instances: unanimous agreement of S/G members classifies confidently, disagreement flags an ambiguous instance.</a:t>
            </a:r>
            <a:endParaRPr lang="en-US" sz="1200" dirty="0"/>
          </a:p>
        </p:txBody>
      </p:sp>
      <p:sp>
        <p:nvSpPr>
          <p:cNvPr id="15" name="Text 13"/>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ITA 06 — Machine Learning  |  CO1</a:t>
            </a:r>
            <a:endParaRPr lang="en-US" sz="1000" dirty="0"/>
          </a:p>
        </p:txBody>
      </p:sp>
      <p:sp>
        <p:nvSpPr>
          <p:cNvPr id="16" name="Text 14"/>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B45309"/>
          </a:solidFill>
          <a:ln/>
        </p:spPr>
      </p:sp>
      <p:sp>
        <p:nvSpPr>
          <p:cNvPr id="3" name="Text 1"/>
          <p:cNvSpPr/>
          <p:nvPr/>
        </p:nvSpPr>
        <p:spPr>
          <a:xfrm>
            <a:off x="548640" y="164592"/>
            <a:ext cx="7315200" cy="320040"/>
          </a:xfrm>
          <a:prstGeom prst="rect">
            <a:avLst/>
          </a:prstGeom>
          <a:noFill/>
          <a:ln/>
        </p:spPr>
        <p:txBody>
          <a:bodyPr wrap="square" rtlCol="0" anchor="ctr"/>
          <a:lstStyle/>
          <a:p>
            <a:pPr indent="0" marL="0">
              <a:buNone/>
            </a:pPr>
            <a:r>
              <a:rPr lang="en-US" sz="1300" b="1" spc="200" kern="0" dirty="0">
                <a:solidFill>
                  <a:srgbClr val="FDF3E7"/>
                </a:solidFill>
                <a:latin typeface="Calibri" pitchFamily="34" charset="0"/>
                <a:ea typeface="Calibri" pitchFamily="34" charset="-122"/>
                <a:cs typeface="Calibri" pitchFamily="34" charset="-120"/>
              </a:rPr>
              <a:t>QUESTION 8   ·   5 MARKS</a:t>
            </a:r>
            <a:endParaRPr lang="en-US" sz="1300" dirty="0"/>
          </a:p>
        </p:txBody>
      </p:sp>
      <p:sp>
        <p:nvSpPr>
          <p:cNvPr id="4" name="Text 2"/>
          <p:cNvSpPr/>
          <p:nvPr/>
        </p:nvSpPr>
        <p:spPr>
          <a:xfrm>
            <a:off x="548640" y="457200"/>
            <a:ext cx="1097280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Inductive Bias in Learning Algorithms</a:t>
            </a:r>
            <a:endParaRPr lang="en-US" sz="2600" dirty="0"/>
          </a:p>
        </p:txBody>
      </p:sp>
      <p:sp>
        <p:nvSpPr>
          <p:cNvPr id="5" name="Shape 3"/>
          <p:cNvSpPr/>
          <p:nvPr/>
        </p:nvSpPr>
        <p:spPr>
          <a:xfrm>
            <a:off x="548640" y="1325880"/>
            <a:ext cx="11064240" cy="914400"/>
          </a:xfrm>
          <a:prstGeom prst="roundRect">
            <a:avLst>
              <a:gd name="adj" fmla="val 8000"/>
            </a:avLst>
          </a:prstGeom>
          <a:solidFill>
            <a:srgbClr val="FDF3E7"/>
          </a:solidFill>
          <a:ln/>
        </p:spPr>
      </p:sp>
      <p:sp>
        <p:nvSpPr>
          <p:cNvPr id="6" name="Text 4"/>
          <p:cNvSpPr/>
          <p:nvPr/>
        </p:nvSpPr>
        <p:spPr>
          <a:xfrm>
            <a:off x="777240" y="1417320"/>
            <a:ext cx="10607040" cy="777240"/>
          </a:xfrm>
          <a:prstGeom prst="rect">
            <a:avLst/>
          </a:prstGeom>
          <a:noFill/>
          <a:ln/>
        </p:spPr>
        <p:txBody>
          <a:bodyPr wrap="square" rtlCol="0" anchor="ctr"/>
          <a:lstStyle/>
          <a:p>
            <a:pPr indent="0" marL="0">
              <a:lnSpc>
                <a:spcPct val="125000"/>
              </a:lnSpc>
              <a:buNone/>
            </a:pPr>
            <a:r>
              <a:rPr lang="en-US" sz="1250" b="1" i="1" dirty="0">
                <a:solidFill>
                  <a:srgbClr val="B45309"/>
                </a:solidFill>
                <a:latin typeface="Calibri" pitchFamily="34" charset="0"/>
                <a:ea typeface="Calibri" pitchFamily="34" charset="-122"/>
                <a:cs typeface="Calibri" pitchFamily="34" charset="-120"/>
              </a:rPr>
              <a:t>Q: </a:t>
            </a:r>
            <a:pPr indent="0" marL="0">
              <a:lnSpc>
                <a:spcPct val="125000"/>
              </a:lnSpc>
              <a:buNone/>
            </a:pPr>
            <a:r>
              <a:rPr lang="en-US" sz="1250" i="1" dirty="0">
                <a:solidFill>
                  <a:srgbClr val="1A1A1A"/>
                </a:solidFill>
                <a:latin typeface="Calibri" pitchFamily="34" charset="0"/>
                <a:ea typeface="Calibri" pitchFamily="34" charset="-122"/>
                <a:cs typeface="Calibri" pitchFamily="34" charset="-120"/>
              </a:rPr>
              <a:t>Define inductive bias and explain its significance. Discuss restriction bias and preference bias, and explain how inductive bias helps a learning algorithm generalize from limited data.</a:t>
            </a:r>
            <a:endParaRPr lang="en-US" sz="1250" dirty="0"/>
          </a:p>
        </p:txBody>
      </p:sp>
      <p:sp>
        <p:nvSpPr>
          <p:cNvPr id="7" name="Text 5"/>
          <p:cNvSpPr/>
          <p:nvPr/>
        </p:nvSpPr>
        <p:spPr>
          <a:xfrm>
            <a:off x="548640" y="2423160"/>
            <a:ext cx="5486400" cy="365760"/>
          </a:xfrm>
          <a:prstGeom prst="rect">
            <a:avLst/>
          </a:prstGeom>
          <a:noFill/>
          <a:ln/>
        </p:spPr>
        <p:txBody>
          <a:bodyPr wrap="square"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Why bias is necessary</a:t>
            </a:r>
            <a:endParaRPr lang="en-US" sz="1600" dirty="0"/>
          </a:p>
        </p:txBody>
      </p:sp>
      <p:sp>
        <p:nvSpPr>
          <p:cNvPr id="8" name="Text 6"/>
          <p:cNvSpPr/>
          <p:nvPr/>
        </p:nvSpPr>
        <p:spPr>
          <a:xfrm>
            <a:off x="548640" y="2834640"/>
            <a:ext cx="5486400" cy="1280160"/>
          </a:xfrm>
          <a:prstGeom prst="rect">
            <a:avLst/>
          </a:prstGeom>
          <a:noFill/>
          <a:ln/>
        </p:spPr>
        <p:txBody>
          <a:bodyPr wrap="square" rtlCol="0" anchor="ctr"/>
          <a:lstStyle/>
          <a:p>
            <a:pPr indent="0" marL="0">
              <a:lnSpc>
                <a:spcPct val="130000"/>
              </a:lnSpc>
              <a:buNone/>
            </a:pPr>
            <a:r>
              <a:rPr lang="en-US" sz="1250" dirty="0">
                <a:solidFill>
                  <a:srgbClr val="555555"/>
                </a:solidFill>
                <a:latin typeface="Calibri" pitchFamily="34" charset="0"/>
                <a:ea typeface="Calibri" pitchFamily="34" charset="-122"/>
                <a:cs typeface="Calibri" pitchFamily="34" charset="-120"/>
              </a:rPr>
              <a:t>A finite set of training examples is consistent with many hypotheses. Without extra assumptions, a learner has no principled way to prefer one over another for unseen data — this is the fundamental problem of induction.</a:t>
            </a:r>
            <a:endParaRPr lang="en-US" sz="1250" dirty="0"/>
          </a:p>
        </p:txBody>
      </p:sp>
      <p:sp>
        <p:nvSpPr>
          <p:cNvPr id="9" name="Shape 7"/>
          <p:cNvSpPr/>
          <p:nvPr/>
        </p:nvSpPr>
        <p:spPr>
          <a:xfrm>
            <a:off x="548640" y="4206240"/>
            <a:ext cx="5486400" cy="1280160"/>
          </a:xfrm>
          <a:prstGeom prst="roundRect">
            <a:avLst>
              <a:gd name="adj" fmla="val 5714"/>
            </a:avLst>
          </a:prstGeom>
          <a:solidFill>
            <a:srgbClr val="F4F6F8"/>
          </a:solidFill>
          <a:ln/>
        </p:spPr>
      </p:sp>
      <p:sp>
        <p:nvSpPr>
          <p:cNvPr id="10" name="Text 8"/>
          <p:cNvSpPr/>
          <p:nvPr/>
        </p:nvSpPr>
        <p:spPr>
          <a:xfrm>
            <a:off x="777240" y="4315968"/>
            <a:ext cx="5029200" cy="2743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Definition (Mitchell)</a:t>
            </a:r>
            <a:endParaRPr lang="en-US" sz="1200" dirty="0"/>
          </a:p>
        </p:txBody>
      </p:sp>
      <p:sp>
        <p:nvSpPr>
          <p:cNvPr id="11" name="Text 9"/>
          <p:cNvSpPr/>
          <p:nvPr/>
        </p:nvSpPr>
        <p:spPr>
          <a:xfrm>
            <a:off x="777240" y="4572000"/>
            <a:ext cx="5029200" cy="822960"/>
          </a:xfrm>
          <a:prstGeom prst="rect">
            <a:avLst/>
          </a:prstGeom>
          <a:noFill/>
          <a:ln/>
        </p:spPr>
        <p:txBody>
          <a:bodyPr wrap="square" rtlCol="0" anchor="ctr"/>
          <a:lstStyle/>
          <a:p>
            <a:pPr indent="0" marL="0">
              <a:lnSpc>
                <a:spcPct val="120000"/>
              </a:lnSpc>
              <a:buNone/>
            </a:pPr>
            <a:r>
              <a:rPr lang="en-US" sz="1100" i="1" dirty="0">
                <a:solidFill>
                  <a:srgbClr val="555555"/>
                </a:solidFill>
                <a:latin typeface="Calibri" pitchFamily="34" charset="0"/>
                <a:ea typeface="Calibri" pitchFamily="34" charset="-122"/>
                <a:cs typeface="Calibri" pitchFamily="34" charset="-120"/>
              </a:rPr>
              <a:t>The inductive bias of a learner is the minimal set of assumptions B such that, together with the training data D, it deductively justifies each classification the learner makes on new instances.</a:t>
            </a:r>
            <a:endParaRPr lang="en-US" sz="1100" dirty="0"/>
          </a:p>
        </p:txBody>
      </p:sp>
      <p:sp>
        <p:nvSpPr>
          <p:cNvPr id="12" name="Shape 10"/>
          <p:cNvSpPr/>
          <p:nvPr/>
        </p:nvSpPr>
        <p:spPr>
          <a:xfrm>
            <a:off x="6400800" y="2423160"/>
            <a:ext cx="5212080" cy="3063240"/>
          </a:xfrm>
          <a:prstGeom prst="roundRect">
            <a:avLst>
              <a:gd name="adj" fmla="val 2388"/>
            </a:avLst>
          </a:prstGeom>
          <a:solidFill>
            <a:srgbClr val="1A1A1A"/>
          </a:solidFill>
          <a:ln/>
        </p:spPr>
      </p:sp>
      <p:sp>
        <p:nvSpPr>
          <p:cNvPr id="13" name="Text 11"/>
          <p:cNvSpPr/>
          <p:nvPr/>
        </p:nvSpPr>
        <p:spPr>
          <a:xfrm>
            <a:off x="6629400" y="2606040"/>
            <a:ext cx="4754880" cy="365760"/>
          </a:xfrm>
          <a:prstGeom prst="rect">
            <a:avLst/>
          </a:prstGeom>
          <a:noFill/>
          <a:ln/>
        </p:spPr>
        <p:txBody>
          <a:bodyPr wrap="square" rtlCol="0" anchor="ctr"/>
          <a:lstStyle/>
          <a:p>
            <a:pPr indent="0" marL="0">
              <a:buNone/>
            </a:pPr>
            <a:r>
              <a:rPr lang="en-US" sz="1300" b="1" dirty="0">
                <a:solidFill>
                  <a:srgbClr val="FFD9A0"/>
                </a:solidFill>
                <a:latin typeface="Calibri" pitchFamily="34" charset="0"/>
                <a:ea typeface="Calibri" pitchFamily="34" charset="-122"/>
                <a:cs typeface="Calibri" pitchFamily="34" charset="-120"/>
              </a:rPr>
              <a:t>Formal Statement of Inductive Bias</a:t>
            </a:r>
            <a:endParaRPr lang="en-US" sz="1300" dirty="0"/>
          </a:p>
        </p:txBody>
      </p:sp>
      <p:sp>
        <p:nvSpPr>
          <p:cNvPr id="14" name="Text 12"/>
          <p:cNvSpPr/>
          <p:nvPr/>
        </p:nvSpPr>
        <p:spPr>
          <a:xfrm>
            <a:off x="6629400" y="3063240"/>
            <a:ext cx="4754880" cy="457200"/>
          </a:xfrm>
          <a:prstGeom prst="rect">
            <a:avLst/>
          </a:prstGeom>
          <a:noFill/>
          <a:ln/>
        </p:spPr>
        <p:txBody>
          <a:bodyPr wrap="square" rtlCol="0" anchor="ctr"/>
          <a:lstStyle/>
          <a:p>
            <a:pPr indent="0" marL="0">
              <a:buNone/>
            </a:pPr>
            <a:r>
              <a:rPr lang="en-US" sz="1500" b="1" dirty="0">
                <a:solidFill>
                  <a:srgbClr val="FFFFFF"/>
                </a:solidFill>
                <a:latin typeface="Consolas" pitchFamily="34" charset="0"/>
                <a:ea typeface="Consolas" pitchFamily="34" charset="-122"/>
                <a:cs typeface="Consolas" pitchFamily="34" charset="-120"/>
              </a:rPr>
              <a:t>(∀ xi ∈ D) (B ∧ D ∧ xi) ⊢ L(xi, D)</a:t>
            </a:r>
            <a:endParaRPr lang="en-US" sz="1500" dirty="0"/>
          </a:p>
        </p:txBody>
      </p:sp>
      <p:sp>
        <p:nvSpPr>
          <p:cNvPr id="15" name="Text 13"/>
          <p:cNvSpPr/>
          <p:nvPr/>
        </p:nvSpPr>
        <p:spPr>
          <a:xfrm>
            <a:off x="6629400" y="3657600"/>
            <a:ext cx="4754880" cy="1737360"/>
          </a:xfrm>
          <a:prstGeom prst="rect">
            <a:avLst/>
          </a:prstGeom>
          <a:noFill/>
          <a:ln/>
        </p:spPr>
        <p:txBody>
          <a:bodyPr wrap="square" rtlCol="0" anchor="ctr"/>
          <a:lstStyle/>
          <a:p>
            <a:pPr indent="0" marL="0">
              <a:lnSpc>
                <a:spcPct val="125000"/>
              </a:lnSpc>
              <a:buNone/>
            </a:pPr>
            <a:r>
              <a:rPr lang="en-US" sz="1100" b="1" dirty="0">
                <a:solidFill>
                  <a:srgbClr val="9FE8DE"/>
                </a:solidFill>
                <a:latin typeface="Calibri" pitchFamily="34" charset="0"/>
                <a:ea typeface="Calibri" pitchFamily="34" charset="-122"/>
                <a:cs typeface="Calibri" pitchFamily="34" charset="-120"/>
              </a:rPr>
              <a:t>L(xi, D)</a:t>
            </a:r>
            <a:pPr indent="0" marL="0">
              <a:lnSpc>
                <a:spcPct val="125000"/>
              </a:lnSpc>
              <a:buNone/>
            </a:pPr>
            <a:r>
              <a:rPr lang="en-US" sz="1100" dirty="0">
                <a:solidFill>
                  <a:srgbClr val="CFCFCF"/>
                </a:solidFill>
                <a:latin typeface="Calibri" pitchFamily="34" charset="0"/>
                <a:ea typeface="Calibri" pitchFamily="34" charset="-122"/>
                <a:cs typeface="Calibri" pitchFamily="34" charset="-120"/>
              </a:rPr>
              <a:t> = classification assigned to instance xi by learner L after training on D
</a:t>
            </a:r>
            <a:pPr indent="0" marL="0">
              <a:lnSpc>
                <a:spcPct val="125000"/>
              </a:lnSpc>
              <a:buNone/>
            </a:pPr>
            <a:r>
              <a:rPr lang="en-US" sz="1100" b="1" dirty="0">
                <a:solidFill>
                  <a:srgbClr val="9FE8DE"/>
                </a:solidFill>
                <a:latin typeface="Calibri" pitchFamily="34" charset="0"/>
                <a:ea typeface="Calibri" pitchFamily="34" charset="-122"/>
                <a:cs typeface="Calibri" pitchFamily="34" charset="-120"/>
              </a:rPr>
              <a:t>B</a:t>
            </a:r>
            <a:pPr indent="0" marL="0">
              <a:lnSpc>
                <a:spcPct val="125000"/>
              </a:lnSpc>
              <a:buNone/>
            </a:pPr>
            <a:r>
              <a:rPr lang="en-US" sz="1100" dirty="0">
                <a:solidFill>
                  <a:srgbClr val="CFCFCF"/>
                </a:solidFill>
                <a:latin typeface="Calibri" pitchFamily="34" charset="0"/>
                <a:ea typeface="Calibri" pitchFamily="34" charset="-122"/>
                <a:cs typeface="Calibri" pitchFamily="34" charset="-120"/>
              </a:rPr>
              <a:t> = the inductive bias — background assumptions
</a:t>
            </a:r>
            <a:pPr indent="0" marL="0">
              <a:lnSpc>
                <a:spcPct val="125000"/>
              </a:lnSpc>
              <a:buNone/>
            </a:pPr>
            <a:r>
              <a:rPr lang="en-US" sz="1100" b="1" dirty="0">
                <a:solidFill>
                  <a:srgbClr val="9FE8DE"/>
                </a:solidFill>
                <a:latin typeface="Calibri" pitchFamily="34" charset="0"/>
                <a:ea typeface="Calibri" pitchFamily="34" charset="-122"/>
                <a:cs typeface="Calibri" pitchFamily="34" charset="-120"/>
              </a:rPr>
              <a:t>⊢</a:t>
            </a:r>
            <a:pPr indent="0" marL="0">
              <a:lnSpc>
                <a:spcPct val="125000"/>
              </a:lnSpc>
              <a:buNone/>
            </a:pPr>
            <a:r>
              <a:rPr lang="en-US" sz="1100" dirty="0">
                <a:solidFill>
                  <a:srgbClr val="CFCFCF"/>
                </a:solidFill>
                <a:latin typeface="Calibri" pitchFamily="34" charset="0"/>
                <a:ea typeface="Calibri" pitchFamily="34" charset="-122"/>
                <a:cs typeface="Calibri" pitchFamily="34" charset="-120"/>
              </a:rPr>
              <a:t>  = logically/deductively entails</a:t>
            </a:r>
            <a:endParaRPr lang="en-US" sz="1100" dirty="0"/>
          </a:p>
        </p:txBody>
      </p:sp>
      <p:sp>
        <p:nvSpPr>
          <p:cNvPr id="16" name="Text 14"/>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ITA 06 — Machine Learning  |  CO1</a:t>
            </a:r>
            <a:endParaRPr lang="en-US" sz="1000" dirty="0"/>
          </a:p>
        </p:txBody>
      </p:sp>
      <p:sp>
        <p:nvSpPr>
          <p:cNvPr id="17" name="Text 15"/>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02920"/>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Restriction Bias vs. Preference Bias</a:t>
            </a:r>
            <a:endParaRPr lang="en-US" sz="2600" dirty="0"/>
          </a:p>
        </p:txBody>
      </p:sp>
      <p:sp>
        <p:nvSpPr>
          <p:cNvPr id="3" name="Shape 1"/>
          <p:cNvSpPr/>
          <p:nvPr/>
        </p:nvSpPr>
        <p:spPr>
          <a:xfrm>
            <a:off x="548640" y="914400"/>
            <a:ext cx="11064240" cy="0"/>
          </a:xfrm>
          <a:prstGeom prst="line">
            <a:avLst/>
          </a:prstGeom>
          <a:noFill/>
          <a:ln w="12700">
            <a:solidFill>
              <a:srgbClr val="DDDDDD"/>
            </a:solidFill>
            <a:prstDash val="solid"/>
          </a:ln>
        </p:spPr>
      </p:sp>
      <p:sp>
        <p:nvSpPr>
          <p:cNvPr id="4" name="Shape 2"/>
          <p:cNvSpPr/>
          <p:nvPr/>
        </p:nvSpPr>
        <p:spPr>
          <a:xfrm>
            <a:off x="548640" y="1188720"/>
            <a:ext cx="5440680" cy="4114800"/>
          </a:xfrm>
          <a:prstGeom prst="roundRect">
            <a:avLst>
              <a:gd name="adj" fmla="val 1778"/>
            </a:avLst>
          </a:prstGeom>
          <a:solidFill>
            <a:srgbClr val="FDF3E7"/>
          </a:solidFill>
          <a:ln/>
        </p:spPr>
      </p:sp>
      <p:sp>
        <p:nvSpPr>
          <p:cNvPr id="5" name="Text 3"/>
          <p:cNvSpPr/>
          <p:nvPr/>
        </p:nvSpPr>
        <p:spPr>
          <a:xfrm>
            <a:off x="777240" y="1325880"/>
            <a:ext cx="4937760" cy="365760"/>
          </a:xfrm>
          <a:prstGeom prst="rect">
            <a:avLst/>
          </a:prstGeom>
          <a:noFill/>
          <a:ln/>
        </p:spPr>
        <p:txBody>
          <a:bodyPr wrap="square" rtlCol="0" anchor="ctr"/>
          <a:lstStyle/>
          <a:p>
            <a:pPr indent="0" marL="0">
              <a:buNone/>
            </a:pPr>
            <a:r>
              <a:rPr lang="en-US" sz="1600" b="1" dirty="0">
                <a:solidFill>
                  <a:srgbClr val="B45309"/>
                </a:solidFill>
                <a:latin typeface="Calibri" pitchFamily="34" charset="0"/>
                <a:ea typeface="Calibri" pitchFamily="34" charset="-122"/>
                <a:cs typeface="Calibri" pitchFamily="34" charset="-120"/>
              </a:rPr>
              <a:t>Restriction Bias</a:t>
            </a:r>
            <a:endParaRPr lang="en-US" sz="1600" dirty="0"/>
          </a:p>
        </p:txBody>
      </p:sp>
      <p:sp>
        <p:nvSpPr>
          <p:cNvPr id="6" name="Text 4"/>
          <p:cNvSpPr/>
          <p:nvPr/>
        </p:nvSpPr>
        <p:spPr>
          <a:xfrm>
            <a:off x="777240" y="1737360"/>
            <a:ext cx="4937760" cy="685800"/>
          </a:xfrm>
          <a:prstGeom prst="rect">
            <a:avLst/>
          </a:prstGeom>
          <a:noFill/>
          <a:ln/>
        </p:spPr>
        <p:txBody>
          <a:bodyPr wrap="square" rtlCol="0" anchor="ctr"/>
          <a:lstStyle/>
          <a:p>
            <a:pPr indent="0" marL="0">
              <a:lnSpc>
                <a:spcPct val="130000"/>
              </a:lnSpc>
              <a:buNone/>
            </a:pPr>
            <a:r>
              <a:rPr lang="en-US" sz="1250" dirty="0">
                <a:solidFill>
                  <a:srgbClr val="1A1A1A"/>
                </a:solidFill>
                <a:latin typeface="Calibri" pitchFamily="34" charset="0"/>
                <a:ea typeface="Calibri" pitchFamily="34" charset="-122"/>
                <a:cs typeface="Calibri" pitchFamily="34" charset="-120"/>
              </a:rPr>
              <a:t>Limits the hypothesis space H itself to a restricted subset of all possible hypotheses.</a:t>
            </a:r>
            <a:endParaRPr lang="en-US" sz="1250" dirty="0"/>
          </a:p>
        </p:txBody>
      </p:sp>
      <p:sp>
        <p:nvSpPr>
          <p:cNvPr id="7" name="Text 5"/>
          <p:cNvSpPr/>
          <p:nvPr/>
        </p:nvSpPr>
        <p:spPr>
          <a:xfrm>
            <a:off x="777240" y="2468880"/>
            <a:ext cx="2743200" cy="274320"/>
          </a:xfrm>
          <a:prstGeom prst="rect">
            <a:avLst/>
          </a:prstGeom>
          <a:noFill/>
          <a:ln/>
        </p:spPr>
        <p:txBody>
          <a:bodyPr wrap="square" rtlCol="0" anchor="ctr"/>
          <a:lstStyle/>
          <a:p>
            <a:pPr indent="0" marL="0">
              <a:buNone/>
            </a:pPr>
            <a:r>
              <a:rPr lang="en-US" sz="1100" b="1" dirty="0">
                <a:solidFill>
                  <a:srgbClr val="B45309"/>
                </a:solidFill>
                <a:latin typeface="Calibri" pitchFamily="34" charset="0"/>
                <a:ea typeface="Calibri" pitchFamily="34" charset="-122"/>
                <a:cs typeface="Calibri" pitchFamily="34" charset="-120"/>
              </a:rPr>
              <a:t>Example</a:t>
            </a:r>
            <a:endParaRPr lang="en-US" sz="1100" dirty="0"/>
          </a:p>
        </p:txBody>
      </p:sp>
      <p:sp>
        <p:nvSpPr>
          <p:cNvPr id="8" name="Text 6"/>
          <p:cNvSpPr/>
          <p:nvPr/>
        </p:nvSpPr>
        <p:spPr>
          <a:xfrm>
            <a:off x="777240" y="2743200"/>
            <a:ext cx="4937760" cy="914400"/>
          </a:xfrm>
          <a:prstGeom prst="rect">
            <a:avLst/>
          </a:prstGeom>
          <a:noFill/>
          <a:ln/>
        </p:spPr>
        <p:txBody>
          <a:bodyPr wrap="square" rtlCol="0" anchor="ctr"/>
          <a:lstStyle/>
          <a:p>
            <a:pPr indent="0" marL="0">
              <a:lnSpc>
                <a:spcPct val="125000"/>
              </a:lnSpc>
              <a:buNone/>
            </a:pPr>
            <a:r>
              <a:rPr lang="en-US" sz="1150" i="1" dirty="0">
                <a:solidFill>
                  <a:srgbClr val="555555"/>
                </a:solidFill>
                <a:latin typeface="Calibri" pitchFamily="34" charset="0"/>
                <a:ea typeface="Calibri" pitchFamily="34" charset="-122"/>
                <a:cs typeface="Calibri" pitchFamily="34" charset="-120"/>
              </a:rPr>
              <a:t>Candidate-Elimination only considers conjunctive hypotheses — it structurally cannot represent a disjunctive concept, even if that concept fits the data.</a:t>
            </a:r>
            <a:endParaRPr lang="en-US" sz="1150" dirty="0"/>
          </a:p>
        </p:txBody>
      </p:sp>
      <p:sp>
        <p:nvSpPr>
          <p:cNvPr id="9" name="Shape 7"/>
          <p:cNvSpPr/>
          <p:nvPr/>
        </p:nvSpPr>
        <p:spPr>
          <a:xfrm>
            <a:off x="777240" y="3794760"/>
            <a:ext cx="4709160" cy="0"/>
          </a:xfrm>
          <a:prstGeom prst="line">
            <a:avLst/>
          </a:prstGeom>
          <a:noFill/>
          <a:ln w="12700">
            <a:solidFill>
              <a:srgbClr val="E0C088"/>
            </a:solidFill>
            <a:prstDash val="solid"/>
          </a:ln>
        </p:spPr>
      </p:sp>
      <p:sp>
        <p:nvSpPr>
          <p:cNvPr id="10" name="Text 8"/>
          <p:cNvSpPr/>
          <p:nvPr/>
        </p:nvSpPr>
        <p:spPr>
          <a:xfrm>
            <a:off x="777240" y="3977640"/>
            <a:ext cx="4937760" cy="640080"/>
          </a:xfrm>
          <a:prstGeom prst="rect">
            <a:avLst/>
          </a:prstGeom>
          <a:noFill/>
          <a:ln/>
        </p:spPr>
        <p:txBody>
          <a:bodyPr wrap="square" rtlCol="0" anchor="ctr"/>
          <a:lstStyle/>
          <a:p>
            <a:pPr indent="0" marL="0">
              <a:buNone/>
            </a:pPr>
            <a:r>
              <a:rPr lang="en-US" sz="1150" b="1" dirty="0">
                <a:solidFill>
                  <a:srgbClr val="B45309"/>
                </a:solidFill>
                <a:latin typeface="Calibri" pitchFamily="34" charset="0"/>
                <a:ea typeface="Calibri" pitchFamily="34" charset="-122"/>
                <a:cs typeface="Calibri" pitchFamily="34" charset="-120"/>
              </a:rPr>
              <a:t>Effect: some target concepts are unreachable, no matter the data.</a:t>
            </a:r>
            <a:endParaRPr lang="en-US" sz="1150" dirty="0"/>
          </a:p>
        </p:txBody>
      </p:sp>
      <p:sp>
        <p:nvSpPr>
          <p:cNvPr id="11" name="Text 9"/>
          <p:cNvSpPr/>
          <p:nvPr/>
        </p:nvSpPr>
        <p:spPr>
          <a:xfrm>
            <a:off x="777240" y="4572000"/>
            <a:ext cx="4937760" cy="548640"/>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Also called "language bias" — the bias is built into what the learner can even express.</a:t>
            </a:r>
            <a:endParaRPr lang="en-US" sz="1100" dirty="0"/>
          </a:p>
        </p:txBody>
      </p:sp>
      <p:sp>
        <p:nvSpPr>
          <p:cNvPr id="12" name="Shape 10"/>
          <p:cNvSpPr/>
          <p:nvPr/>
        </p:nvSpPr>
        <p:spPr>
          <a:xfrm>
            <a:off x="6172200" y="1188720"/>
            <a:ext cx="5440680" cy="4114800"/>
          </a:xfrm>
          <a:prstGeom prst="roundRect">
            <a:avLst>
              <a:gd name="adj" fmla="val 1778"/>
            </a:avLst>
          </a:prstGeom>
          <a:solidFill>
            <a:srgbClr val="E6F4F2"/>
          </a:solidFill>
          <a:ln/>
        </p:spPr>
      </p:sp>
      <p:sp>
        <p:nvSpPr>
          <p:cNvPr id="13" name="Text 11"/>
          <p:cNvSpPr/>
          <p:nvPr/>
        </p:nvSpPr>
        <p:spPr>
          <a:xfrm>
            <a:off x="6400800" y="1325880"/>
            <a:ext cx="4937760" cy="365760"/>
          </a:xfrm>
          <a:prstGeom prst="rect">
            <a:avLst/>
          </a:prstGeom>
          <a:noFill/>
          <a:ln/>
        </p:spPr>
        <p:txBody>
          <a:bodyPr wrap="square" rtlCol="0" anchor="ctr"/>
          <a:lstStyle/>
          <a:p>
            <a:pPr indent="0" marL="0">
              <a:buNone/>
            </a:pPr>
            <a:r>
              <a:rPr lang="en-US" sz="1600" b="1" dirty="0">
                <a:solidFill>
                  <a:srgbClr val="0F766E"/>
                </a:solidFill>
                <a:latin typeface="Calibri" pitchFamily="34" charset="0"/>
                <a:ea typeface="Calibri" pitchFamily="34" charset="-122"/>
                <a:cs typeface="Calibri" pitchFamily="34" charset="-120"/>
              </a:rPr>
              <a:t>Preference Bias</a:t>
            </a:r>
            <a:endParaRPr lang="en-US" sz="1600" dirty="0"/>
          </a:p>
        </p:txBody>
      </p:sp>
      <p:sp>
        <p:nvSpPr>
          <p:cNvPr id="14" name="Text 12"/>
          <p:cNvSpPr/>
          <p:nvPr/>
        </p:nvSpPr>
        <p:spPr>
          <a:xfrm>
            <a:off x="6400800" y="1737360"/>
            <a:ext cx="4937760" cy="685800"/>
          </a:xfrm>
          <a:prstGeom prst="rect">
            <a:avLst/>
          </a:prstGeom>
          <a:noFill/>
          <a:ln/>
        </p:spPr>
        <p:txBody>
          <a:bodyPr wrap="square" rtlCol="0" anchor="ctr"/>
          <a:lstStyle/>
          <a:p>
            <a:pPr indent="0" marL="0">
              <a:lnSpc>
                <a:spcPct val="130000"/>
              </a:lnSpc>
              <a:buNone/>
            </a:pPr>
            <a:r>
              <a:rPr lang="en-US" sz="1250" dirty="0">
                <a:solidFill>
                  <a:srgbClr val="1A1A1A"/>
                </a:solidFill>
                <a:latin typeface="Calibri" pitchFamily="34" charset="0"/>
                <a:ea typeface="Calibri" pitchFamily="34" charset="-122"/>
                <a:cs typeface="Calibri" pitchFamily="34" charset="-120"/>
              </a:rPr>
              <a:t>Keeps the full hypothesis space, but the search strategy prefers certain hypotheses over others.</a:t>
            </a:r>
            <a:endParaRPr lang="en-US" sz="1250" dirty="0"/>
          </a:p>
        </p:txBody>
      </p:sp>
      <p:sp>
        <p:nvSpPr>
          <p:cNvPr id="15" name="Text 13"/>
          <p:cNvSpPr/>
          <p:nvPr/>
        </p:nvSpPr>
        <p:spPr>
          <a:xfrm>
            <a:off x="6400800" y="2468880"/>
            <a:ext cx="2743200" cy="274320"/>
          </a:xfrm>
          <a:prstGeom prst="rect">
            <a:avLst/>
          </a:prstGeom>
          <a:noFill/>
          <a:ln/>
        </p:spPr>
        <p:txBody>
          <a:bodyPr wrap="square" rtlCol="0" anchor="ctr"/>
          <a:lstStyle/>
          <a:p>
            <a:pPr indent="0" marL="0">
              <a:buNone/>
            </a:pPr>
            <a:r>
              <a:rPr lang="en-US" sz="1100" b="1" dirty="0">
                <a:solidFill>
                  <a:srgbClr val="0F766E"/>
                </a:solidFill>
                <a:latin typeface="Calibri" pitchFamily="34" charset="0"/>
                <a:ea typeface="Calibri" pitchFamily="34" charset="-122"/>
                <a:cs typeface="Calibri" pitchFamily="34" charset="-120"/>
              </a:rPr>
              <a:t>Example</a:t>
            </a:r>
            <a:endParaRPr lang="en-US" sz="1100" dirty="0"/>
          </a:p>
        </p:txBody>
      </p:sp>
      <p:sp>
        <p:nvSpPr>
          <p:cNvPr id="16" name="Text 14"/>
          <p:cNvSpPr/>
          <p:nvPr/>
        </p:nvSpPr>
        <p:spPr>
          <a:xfrm>
            <a:off x="6400800" y="2743200"/>
            <a:ext cx="4937760" cy="914400"/>
          </a:xfrm>
          <a:prstGeom prst="rect">
            <a:avLst/>
          </a:prstGeom>
          <a:noFill/>
          <a:ln/>
        </p:spPr>
        <p:txBody>
          <a:bodyPr wrap="square" rtlCol="0" anchor="ctr"/>
          <a:lstStyle/>
          <a:p>
            <a:pPr indent="0" marL="0">
              <a:lnSpc>
                <a:spcPct val="125000"/>
              </a:lnSpc>
              <a:buNone/>
            </a:pPr>
            <a:r>
              <a:rPr lang="en-US" sz="1150" i="1" dirty="0">
                <a:solidFill>
                  <a:srgbClr val="555555"/>
                </a:solidFill>
                <a:latin typeface="Calibri" pitchFamily="34" charset="0"/>
                <a:ea typeface="Calibri" pitchFamily="34" charset="-122"/>
                <a:cs typeface="Calibri" pitchFamily="34" charset="-120"/>
              </a:rPr>
              <a:t>ID3's preference for shorter trees and high information-gain splits near the root (an approximation of Occam's Razor).</a:t>
            </a:r>
            <a:endParaRPr lang="en-US" sz="1150" dirty="0"/>
          </a:p>
        </p:txBody>
      </p:sp>
      <p:sp>
        <p:nvSpPr>
          <p:cNvPr id="17" name="Shape 15"/>
          <p:cNvSpPr/>
          <p:nvPr/>
        </p:nvSpPr>
        <p:spPr>
          <a:xfrm>
            <a:off x="6400800" y="3794760"/>
            <a:ext cx="4709160" cy="0"/>
          </a:xfrm>
          <a:prstGeom prst="line">
            <a:avLst/>
          </a:prstGeom>
          <a:noFill/>
          <a:ln w="12700">
            <a:solidFill>
              <a:srgbClr val="9FCFC9"/>
            </a:solidFill>
            <a:prstDash val="solid"/>
          </a:ln>
        </p:spPr>
      </p:sp>
      <p:sp>
        <p:nvSpPr>
          <p:cNvPr id="18" name="Text 16"/>
          <p:cNvSpPr/>
          <p:nvPr/>
        </p:nvSpPr>
        <p:spPr>
          <a:xfrm>
            <a:off x="6400800" y="3977640"/>
            <a:ext cx="4937760" cy="640080"/>
          </a:xfrm>
          <a:prstGeom prst="rect">
            <a:avLst/>
          </a:prstGeom>
          <a:noFill/>
          <a:ln/>
        </p:spPr>
        <p:txBody>
          <a:bodyPr wrap="square" rtlCol="0" anchor="ctr"/>
          <a:lstStyle/>
          <a:p>
            <a:pPr indent="0" marL="0">
              <a:buNone/>
            </a:pPr>
            <a:r>
              <a:rPr lang="en-US" sz="1150" b="1" dirty="0">
                <a:solidFill>
                  <a:srgbClr val="0F766E"/>
                </a:solidFill>
                <a:latin typeface="Calibri" pitchFamily="34" charset="0"/>
                <a:ea typeface="Calibri" pitchFamily="34" charset="-122"/>
                <a:cs typeface="Calibri" pitchFamily="34" charset="-120"/>
              </a:rPr>
              <a:t>Effect: every concept in H is still reachable — some are just found first.</a:t>
            </a:r>
            <a:endParaRPr lang="en-US" sz="1150" dirty="0"/>
          </a:p>
        </p:txBody>
      </p:sp>
      <p:sp>
        <p:nvSpPr>
          <p:cNvPr id="19" name="Text 17"/>
          <p:cNvSpPr/>
          <p:nvPr/>
        </p:nvSpPr>
        <p:spPr>
          <a:xfrm>
            <a:off x="6400800" y="4572000"/>
            <a:ext cx="4937760" cy="548640"/>
          </a:xfrm>
          <a:prstGeom prst="rect">
            <a:avLst/>
          </a:prstGeom>
          <a:noFill/>
          <a:ln/>
        </p:spPr>
        <p:txBody>
          <a:bodyPr wrap="square" rtlCol="0" anchor="ctr"/>
          <a:lstStyle/>
          <a:p>
            <a:pPr indent="0" marL="0">
              <a:buNone/>
            </a:pPr>
            <a:r>
              <a:rPr lang="en-US" sz="1100" dirty="0">
                <a:solidFill>
                  <a:srgbClr val="555555"/>
                </a:solidFill>
                <a:latin typeface="Calibri" pitchFamily="34" charset="0"/>
                <a:ea typeface="Calibri" pitchFamily="34" charset="-122"/>
                <a:cs typeface="Calibri" pitchFamily="34" charset="-120"/>
              </a:rPr>
              <a:t>Also called "search bias" — the bias lives in the order of hypothesis exploration.</a:t>
            </a:r>
            <a:endParaRPr lang="en-US" sz="1100" dirty="0"/>
          </a:p>
        </p:txBody>
      </p:sp>
      <p:sp>
        <p:nvSpPr>
          <p:cNvPr id="20" name="Text 18"/>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ITA 06 — Machine Learning  |  CO1</a:t>
            </a:r>
            <a:endParaRPr lang="en-US" sz="1000" dirty="0"/>
          </a:p>
        </p:txBody>
      </p:sp>
      <p:sp>
        <p:nvSpPr>
          <p:cNvPr id="21" name="Text 19"/>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B2A4A"/>
          </a:solidFill>
          <a:ln/>
        </p:spPr>
      </p:sp>
      <p:sp>
        <p:nvSpPr>
          <p:cNvPr id="3" name="Text 1"/>
          <p:cNvSpPr/>
          <p:nvPr/>
        </p:nvSpPr>
        <p:spPr>
          <a:xfrm>
            <a:off x="548640" y="164592"/>
            <a:ext cx="7315200" cy="320040"/>
          </a:xfrm>
          <a:prstGeom prst="rect">
            <a:avLst/>
          </a:prstGeom>
          <a:noFill/>
          <a:ln/>
        </p:spPr>
        <p:txBody>
          <a:bodyPr wrap="square" rtlCol="0" anchor="ctr"/>
          <a:lstStyle/>
          <a:p>
            <a:pPr indent="0" marL="0">
              <a:buNone/>
            </a:pPr>
            <a:r>
              <a:rPr lang="en-US" sz="1300" b="1" spc="200" kern="0" dirty="0">
                <a:solidFill>
                  <a:srgbClr val="C7D4EA"/>
                </a:solidFill>
                <a:latin typeface="Calibri" pitchFamily="34" charset="0"/>
                <a:ea typeface="Calibri" pitchFamily="34" charset="-122"/>
                <a:cs typeface="Calibri" pitchFamily="34" charset="-120"/>
              </a:rPr>
              <a:t>QUESTION 9   ·   5 MARKS</a:t>
            </a:r>
            <a:endParaRPr lang="en-US" sz="1300" dirty="0"/>
          </a:p>
        </p:txBody>
      </p:sp>
      <p:sp>
        <p:nvSpPr>
          <p:cNvPr id="4" name="Text 2"/>
          <p:cNvSpPr/>
          <p:nvPr/>
        </p:nvSpPr>
        <p:spPr>
          <a:xfrm>
            <a:off x="548640" y="457200"/>
            <a:ext cx="1097280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Decision Tree Learning and Representation</a:t>
            </a:r>
            <a:endParaRPr lang="en-US" sz="2600" dirty="0"/>
          </a:p>
        </p:txBody>
      </p:sp>
      <p:sp>
        <p:nvSpPr>
          <p:cNvPr id="5" name="Shape 3"/>
          <p:cNvSpPr/>
          <p:nvPr/>
        </p:nvSpPr>
        <p:spPr>
          <a:xfrm>
            <a:off x="548640" y="1325880"/>
            <a:ext cx="11064240" cy="914400"/>
          </a:xfrm>
          <a:prstGeom prst="roundRect">
            <a:avLst>
              <a:gd name="adj" fmla="val 8000"/>
            </a:avLst>
          </a:prstGeom>
          <a:solidFill>
            <a:srgbClr val="EEF1F8"/>
          </a:solidFill>
          <a:ln/>
        </p:spPr>
      </p:sp>
      <p:sp>
        <p:nvSpPr>
          <p:cNvPr id="6" name="Text 4"/>
          <p:cNvSpPr/>
          <p:nvPr/>
        </p:nvSpPr>
        <p:spPr>
          <a:xfrm>
            <a:off x="777240" y="1417320"/>
            <a:ext cx="10607040" cy="777240"/>
          </a:xfrm>
          <a:prstGeom prst="rect">
            <a:avLst/>
          </a:prstGeom>
          <a:noFill/>
          <a:ln/>
        </p:spPr>
        <p:txBody>
          <a:bodyPr wrap="square" rtlCol="0" anchor="ctr"/>
          <a:lstStyle/>
          <a:p>
            <a:pPr indent="0" marL="0">
              <a:lnSpc>
                <a:spcPct val="125000"/>
              </a:lnSpc>
              <a:buNone/>
            </a:pPr>
            <a:r>
              <a:rPr lang="en-US" sz="1250" b="1" i="1" dirty="0">
                <a:solidFill>
                  <a:srgbClr val="1B2A4A"/>
                </a:solidFill>
                <a:latin typeface="Calibri" pitchFamily="34" charset="0"/>
                <a:ea typeface="Calibri" pitchFamily="34" charset="-122"/>
                <a:cs typeface="Calibri" pitchFamily="34" charset="-120"/>
              </a:rPr>
              <a:t>Q: </a:t>
            </a:r>
            <a:pPr indent="0" marL="0">
              <a:lnSpc>
                <a:spcPct val="125000"/>
              </a:lnSpc>
              <a:buNone/>
            </a:pPr>
            <a:r>
              <a:rPr lang="en-US" sz="1250" i="1" dirty="0">
                <a:solidFill>
                  <a:srgbClr val="1A1A1A"/>
                </a:solidFill>
                <a:latin typeface="Calibri" pitchFamily="34" charset="0"/>
                <a:ea typeface="Calibri" pitchFamily="34" charset="-122"/>
                <a:cs typeface="Calibri" pitchFamily="34" charset="-120"/>
              </a:rPr>
              <a:t>Explain the working of decision tree learning algorithms and their representation of knowledge. Discuss entropy, information gain, and tree pruning. Highlight advantages and limitations.</a:t>
            </a:r>
            <a:endParaRPr lang="en-US" sz="1250" dirty="0"/>
          </a:p>
        </p:txBody>
      </p:sp>
      <p:sp>
        <p:nvSpPr>
          <p:cNvPr id="7" name="Text 5"/>
          <p:cNvSpPr/>
          <p:nvPr/>
        </p:nvSpPr>
        <p:spPr>
          <a:xfrm>
            <a:off x="548640" y="2423160"/>
            <a:ext cx="4572000" cy="320040"/>
          </a:xfrm>
          <a:prstGeom prst="rect">
            <a:avLst/>
          </a:prstGeom>
          <a:noFill/>
          <a:ln/>
        </p:spPr>
        <p:txBody>
          <a:bodyPr wrap="square"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Representation</a:t>
            </a:r>
            <a:endParaRPr lang="en-US" sz="1500" dirty="0"/>
          </a:p>
        </p:txBody>
      </p:sp>
      <p:sp>
        <p:nvSpPr>
          <p:cNvPr id="8" name="Text 6"/>
          <p:cNvSpPr/>
          <p:nvPr/>
        </p:nvSpPr>
        <p:spPr>
          <a:xfrm>
            <a:off x="548640" y="2788920"/>
            <a:ext cx="5577840" cy="1737360"/>
          </a:xfrm>
          <a:prstGeom prst="rect">
            <a:avLst/>
          </a:prstGeom>
          <a:noFill/>
          <a:ln/>
        </p:spPr>
        <p:txBody>
          <a:bodyPr wrap="square" rtlCol="0" anchor="ctr"/>
          <a:lstStyle/>
          <a:p>
            <a:pPr indent="0" marL="0">
              <a:lnSpc>
                <a:spcPct val="135000"/>
              </a:lnSpc>
              <a:spcAft>
                <a:spcPts val="400"/>
              </a:spcAft>
              <a:buNone/>
            </a:pPr>
            <a:r>
              <a:rPr lang="en-US" sz="1200" dirty="0">
                <a:solidFill>
                  <a:srgbClr val="555555"/>
                </a:solidFill>
                <a:latin typeface="Calibri" pitchFamily="34" charset="0"/>
                <a:ea typeface="Calibri" pitchFamily="34" charset="-122"/>
                <a:cs typeface="Calibri" pitchFamily="34" charset="-120"/>
              </a:rPr>
              <a:t>• Each internal node tests one attribute
</a:t>
            </a:r>
            <a:pPr indent="0" marL="0">
              <a:lnSpc>
                <a:spcPct val="135000"/>
              </a:lnSpc>
              <a:spcAft>
                <a:spcPts val="400"/>
              </a:spcAft>
              <a:buNone/>
            </a:pPr>
            <a:r>
              <a:rPr lang="en-US" sz="1200" dirty="0">
                <a:solidFill>
                  <a:srgbClr val="555555"/>
                </a:solidFill>
                <a:latin typeface="Calibri" pitchFamily="34" charset="0"/>
                <a:ea typeface="Calibri" pitchFamily="34" charset="-122"/>
                <a:cs typeface="Calibri" pitchFamily="34" charset="-120"/>
              </a:rPr>
              <a:t>• Each branch corresponds to an attribute value
</a:t>
            </a:r>
            <a:pPr indent="0" marL="0">
              <a:lnSpc>
                <a:spcPct val="135000"/>
              </a:lnSpc>
              <a:spcAft>
                <a:spcPts val="400"/>
              </a:spcAft>
              <a:buNone/>
            </a:pPr>
            <a:r>
              <a:rPr lang="en-US" sz="1200" dirty="0">
                <a:solidFill>
                  <a:srgbClr val="555555"/>
                </a:solidFill>
                <a:latin typeface="Calibri" pitchFamily="34" charset="0"/>
                <a:ea typeface="Calibri" pitchFamily="34" charset="-122"/>
                <a:cs typeface="Calibri" pitchFamily="34" charset="-120"/>
              </a:rPr>
              <a:t>• Each leaf assigns a class label
</a:t>
            </a:r>
            <a:pPr indent="0" marL="0">
              <a:lnSpc>
                <a:spcPct val="135000"/>
              </a:lnSpc>
              <a:spcAft>
                <a:spcPts val="400"/>
              </a:spcAft>
              <a:buNone/>
            </a:pPr>
            <a:r>
              <a:rPr lang="en-US" sz="1200" dirty="0">
                <a:solidFill>
                  <a:srgbClr val="555555"/>
                </a:solidFill>
                <a:latin typeface="Calibri" pitchFamily="34" charset="0"/>
                <a:ea typeface="Calibri" pitchFamily="34" charset="-122"/>
                <a:cs typeface="Calibri" pitchFamily="34" charset="-120"/>
              </a:rPr>
              <a:t>• A path root→leaf = one conjunctive rule; the whole tree = disjunction of rules</a:t>
            </a:r>
            <a:endParaRPr lang="en-US" sz="1200" dirty="0"/>
          </a:p>
        </p:txBody>
      </p:sp>
      <p:sp>
        <p:nvSpPr>
          <p:cNvPr id="9" name="Shape 7"/>
          <p:cNvSpPr/>
          <p:nvPr/>
        </p:nvSpPr>
        <p:spPr>
          <a:xfrm>
            <a:off x="8503920" y="2468880"/>
            <a:ext cx="1371600" cy="548640"/>
          </a:xfrm>
          <a:prstGeom prst="ellipse">
            <a:avLst/>
          </a:prstGeom>
          <a:solidFill>
            <a:srgbClr val="1B2A4A"/>
          </a:solidFill>
          <a:ln/>
        </p:spPr>
      </p:sp>
      <p:sp>
        <p:nvSpPr>
          <p:cNvPr id="10" name="Text 8"/>
          <p:cNvSpPr/>
          <p:nvPr/>
        </p:nvSpPr>
        <p:spPr>
          <a:xfrm>
            <a:off x="8503920" y="2587752"/>
            <a:ext cx="1371600" cy="3200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Outlook</a:t>
            </a:r>
            <a:endParaRPr lang="en-US" sz="1050" dirty="0"/>
          </a:p>
        </p:txBody>
      </p:sp>
      <p:sp>
        <p:nvSpPr>
          <p:cNvPr id="11" name="Shape 9"/>
          <p:cNvSpPr/>
          <p:nvPr/>
        </p:nvSpPr>
        <p:spPr>
          <a:xfrm>
            <a:off x="7589520" y="3017520"/>
            <a:ext cx="1554480" cy="502920"/>
          </a:xfrm>
          <a:prstGeom prst="line">
            <a:avLst/>
          </a:prstGeom>
          <a:noFill/>
          <a:ln w="15240">
            <a:solidFill>
              <a:srgbClr val="999999"/>
            </a:solidFill>
            <a:prstDash val="solid"/>
          </a:ln>
        </p:spPr>
      </p:sp>
      <p:sp>
        <p:nvSpPr>
          <p:cNvPr id="12" name="Shape 10"/>
          <p:cNvSpPr/>
          <p:nvPr/>
        </p:nvSpPr>
        <p:spPr>
          <a:xfrm>
            <a:off x="9189720" y="3017520"/>
            <a:ext cx="0" cy="502920"/>
          </a:xfrm>
          <a:prstGeom prst="line">
            <a:avLst/>
          </a:prstGeom>
          <a:noFill/>
          <a:ln w="15240">
            <a:solidFill>
              <a:srgbClr val="999999"/>
            </a:solidFill>
            <a:prstDash val="solid"/>
          </a:ln>
        </p:spPr>
      </p:sp>
      <p:sp>
        <p:nvSpPr>
          <p:cNvPr id="13" name="Shape 11"/>
          <p:cNvSpPr/>
          <p:nvPr/>
        </p:nvSpPr>
        <p:spPr>
          <a:xfrm>
            <a:off x="9189720" y="3017520"/>
            <a:ext cx="1463040" cy="502920"/>
          </a:xfrm>
          <a:prstGeom prst="line">
            <a:avLst/>
          </a:prstGeom>
          <a:noFill/>
          <a:ln w="15240">
            <a:solidFill>
              <a:srgbClr val="999999"/>
            </a:solidFill>
            <a:prstDash val="solid"/>
          </a:ln>
        </p:spPr>
      </p:sp>
      <p:sp>
        <p:nvSpPr>
          <p:cNvPr id="14" name="Text 12"/>
          <p:cNvSpPr/>
          <p:nvPr/>
        </p:nvSpPr>
        <p:spPr>
          <a:xfrm>
            <a:off x="6903720" y="3063240"/>
            <a:ext cx="914400" cy="27432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Sunny</a:t>
            </a:r>
            <a:endParaRPr lang="en-US" sz="900" dirty="0"/>
          </a:p>
        </p:txBody>
      </p:sp>
      <p:sp>
        <p:nvSpPr>
          <p:cNvPr id="15" name="Text 13"/>
          <p:cNvSpPr/>
          <p:nvPr/>
        </p:nvSpPr>
        <p:spPr>
          <a:xfrm>
            <a:off x="8778240" y="3063240"/>
            <a:ext cx="1005840" cy="27432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Overcast</a:t>
            </a:r>
            <a:endParaRPr lang="en-US" sz="900" dirty="0"/>
          </a:p>
        </p:txBody>
      </p:sp>
      <p:sp>
        <p:nvSpPr>
          <p:cNvPr id="16" name="Text 14"/>
          <p:cNvSpPr/>
          <p:nvPr/>
        </p:nvSpPr>
        <p:spPr>
          <a:xfrm>
            <a:off x="10195560" y="3063240"/>
            <a:ext cx="822960" cy="274320"/>
          </a:xfrm>
          <a:prstGeom prst="rect">
            <a:avLst/>
          </a:prstGeom>
          <a:noFill/>
          <a:ln/>
        </p:spPr>
        <p:txBody>
          <a:bodyPr wrap="square" rtlCol="0" anchor="ctr"/>
          <a:lstStyle/>
          <a:p>
            <a:pPr indent="0" marL="0">
              <a:buNone/>
            </a:pPr>
            <a:r>
              <a:rPr lang="en-US" sz="900" i="1" dirty="0">
                <a:solidFill>
                  <a:srgbClr val="777777"/>
                </a:solidFill>
                <a:latin typeface="Calibri" pitchFamily="34" charset="0"/>
                <a:ea typeface="Calibri" pitchFamily="34" charset="-122"/>
                <a:cs typeface="Calibri" pitchFamily="34" charset="-120"/>
              </a:rPr>
              <a:t>Rain</a:t>
            </a:r>
            <a:endParaRPr lang="en-US" sz="900" dirty="0"/>
          </a:p>
        </p:txBody>
      </p:sp>
      <p:sp>
        <p:nvSpPr>
          <p:cNvPr id="17" name="Shape 15"/>
          <p:cNvSpPr/>
          <p:nvPr/>
        </p:nvSpPr>
        <p:spPr>
          <a:xfrm>
            <a:off x="6903720" y="3520440"/>
            <a:ext cx="1234440" cy="502920"/>
          </a:xfrm>
          <a:prstGeom prst="ellipse">
            <a:avLst/>
          </a:prstGeom>
          <a:solidFill>
            <a:srgbClr val="0F766E"/>
          </a:solidFill>
          <a:ln/>
        </p:spPr>
      </p:sp>
      <p:sp>
        <p:nvSpPr>
          <p:cNvPr id="18" name="Text 16"/>
          <p:cNvSpPr/>
          <p:nvPr/>
        </p:nvSpPr>
        <p:spPr>
          <a:xfrm>
            <a:off x="6903720" y="3639312"/>
            <a:ext cx="1234440" cy="27432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Humidity</a:t>
            </a:r>
            <a:endParaRPr lang="en-US" sz="950" dirty="0"/>
          </a:p>
        </p:txBody>
      </p:sp>
      <p:sp>
        <p:nvSpPr>
          <p:cNvPr id="19" name="Shape 17"/>
          <p:cNvSpPr/>
          <p:nvPr/>
        </p:nvSpPr>
        <p:spPr>
          <a:xfrm>
            <a:off x="8686800" y="3520440"/>
            <a:ext cx="1097280" cy="502920"/>
          </a:xfrm>
          <a:prstGeom prst="roundRect">
            <a:avLst>
              <a:gd name="adj" fmla="val 9091"/>
            </a:avLst>
          </a:prstGeom>
          <a:solidFill>
            <a:srgbClr val="2E7D32"/>
          </a:solidFill>
          <a:ln/>
        </p:spPr>
      </p:sp>
      <p:sp>
        <p:nvSpPr>
          <p:cNvPr id="20" name="Text 18"/>
          <p:cNvSpPr/>
          <p:nvPr/>
        </p:nvSpPr>
        <p:spPr>
          <a:xfrm>
            <a:off x="8686800" y="3639312"/>
            <a:ext cx="1097280" cy="27432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Yes</a:t>
            </a:r>
            <a:endParaRPr lang="en-US" sz="1050" dirty="0"/>
          </a:p>
        </p:txBody>
      </p:sp>
      <p:sp>
        <p:nvSpPr>
          <p:cNvPr id="21" name="Shape 19"/>
          <p:cNvSpPr/>
          <p:nvPr/>
        </p:nvSpPr>
        <p:spPr>
          <a:xfrm>
            <a:off x="10149840" y="3520440"/>
            <a:ext cx="1234440" cy="502920"/>
          </a:xfrm>
          <a:prstGeom prst="ellipse">
            <a:avLst/>
          </a:prstGeom>
          <a:solidFill>
            <a:srgbClr val="B45309"/>
          </a:solidFill>
          <a:ln/>
        </p:spPr>
      </p:sp>
      <p:sp>
        <p:nvSpPr>
          <p:cNvPr id="22" name="Text 20"/>
          <p:cNvSpPr/>
          <p:nvPr/>
        </p:nvSpPr>
        <p:spPr>
          <a:xfrm>
            <a:off x="10149840" y="3639312"/>
            <a:ext cx="1234440" cy="27432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Wind</a:t>
            </a:r>
            <a:endParaRPr lang="en-US" sz="1000" dirty="0"/>
          </a:p>
        </p:txBody>
      </p:sp>
      <p:sp>
        <p:nvSpPr>
          <p:cNvPr id="23" name="Text 21"/>
          <p:cNvSpPr/>
          <p:nvPr/>
        </p:nvSpPr>
        <p:spPr>
          <a:xfrm>
            <a:off x="6903720" y="4160520"/>
            <a:ext cx="4572000" cy="365760"/>
          </a:xfrm>
          <a:prstGeom prst="rect">
            <a:avLst/>
          </a:prstGeom>
          <a:noFill/>
          <a:ln/>
        </p:spPr>
        <p:txBody>
          <a:bodyPr wrap="square" rtlCol="0" anchor="ctr"/>
          <a:lstStyle/>
          <a:p>
            <a:pPr indent="0" marL="0">
              <a:buNone/>
            </a:pPr>
            <a:r>
              <a:rPr lang="en-US" sz="950" i="1" dirty="0">
                <a:solidFill>
                  <a:srgbClr val="888888"/>
                </a:solidFill>
                <a:latin typeface="Calibri" pitchFamily="34" charset="0"/>
                <a:ea typeface="Calibri" pitchFamily="34" charset="-122"/>
                <a:cs typeface="Calibri" pitchFamily="34" charset="-120"/>
              </a:rPr>
              <a:t>Leaf nodes = class label (Yes/No)  ·  Internal nodes = attribute test</a:t>
            </a:r>
            <a:endParaRPr lang="en-US" sz="950" dirty="0"/>
          </a:p>
        </p:txBody>
      </p:sp>
      <p:sp>
        <p:nvSpPr>
          <p:cNvPr id="24" name="Shape 22"/>
          <p:cNvSpPr/>
          <p:nvPr/>
        </p:nvSpPr>
        <p:spPr>
          <a:xfrm>
            <a:off x="548640" y="4663440"/>
            <a:ext cx="11064240" cy="1463040"/>
          </a:xfrm>
          <a:prstGeom prst="roundRect">
            <a:avLst>
              <a:gd name="adj" fmla="val 5000"/>
            </a:avLst>
          </a:prstGeom>
          <a:solidFill>
            <a:srgbClr val="F4F6F8"/>
          </a:solidFill>
          <a:ln/>
        </p:spPr>
      </p:sp>
      <p:sp>
        <p:nvSpPr>
          <p:cNvPr id="25" name="Text 23"/>
          <p:cNvSpPr/>
          <p:nvPr/>
        </p:nvSpPr>
        <p:spPr>
          <a:xfrm>
            <a:off x="777240" y="4800600"/>
            <a:ext cx="5486400" cy="32004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How it builds (ID3-style, top-down)</a:t>
            </a:r>
            <a:endParaRPr lang="en-US" sz="1300" dirty="0"/>
          </a:p>
        </p:txBody>
      </p:sp>
      <p:sp>
        <p:nvSpPr>
          <p:cNvPr id="26" name="Text 24"/>
          <p:cNvSpPr/>
          <p:nvPr/>
        </p:nvSpPr>
        <p:spPr>
          <a:xfrm>
            <a:off x="777240" y="5120640"/>
            <a:ext cx="10607040" cy="914400"/>
          </a:xfrm>
          <a:prstGeom prst="rect">
            <a:avLst/>
          </a:prstGeom>
          <a:noFill/>
          <a:ln/>
        </p:spPr>
        <p:txBody>
          <a:bodyPr wrap="square" rtlCol="0" anchor="ctr"/>
          <a:lstStyle/>
          <a:p>
            <a:pPr indent="0" marL="0">
              <a:lnSpc>
                <a:spcPct val="130000"/>
              </a:lnSpc>
              <a:buNone/>
            </a:pPr>
            <a:r>
              <a:rPr lang="en-US" sz="1200" dirty="0">
                <a:solidFill>
                  <a:srgbClr val="555555"/>
                </a:solidFill>
                <a:latin typeface="Calibri" pitchFamily="34" charset="0"/>
                <a:ea typeface="Calibri" pitchFamily="34" charset="-122"/>
                <a:cs typeface="Calibri" pitchFamily="34" charset="-120"/>
              </a:rPr>
              <a:t>At each node, select the attribute with the highest Information Gain to split on, partition the examples by its values, and recurse on each subset. Stop when a node is pure (all same class) or no attributes remain.</a:t>
            </a:r>
            <a:endParaRPr lang="en-US" sz="1200" dirty="0"/>
          </a:p>
        </p:txBody>
      </p:sp>
      <p:sp>
        <p:nvSpPr>
          <p:cNvPr id="27" name="Text 25"/>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ITA 06 — Machine Learning  |  CO1</a:t>
            </a:r>
            <a:endParaRPr lang="en-US" sz="1000" dirty="0"/>
          </a:p>
        </p:txBody>
      </p:sp>
      <p:sp>
        <p:nvSpPr>
          <p:cNvPr id="28" name="Text 26"/>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972800" cy="502920"/>
          </a:xfrm>
          <a:prstGeom prst="rect">
            <a:avLst/>
          </a:prstGeom>
          <a:noFill/>
          <a:ln/>
        </p:spPr>
        <p:txBody>
          <a:bodyPr wrap="square" rtlCol="0" anchor="ctr"/>
          <a:lstStyle/>
          <a:p>
            <a:pPr indent="0" marL="0">
              <a:buNone/>
            </a:pPr>
            <a:r>
              <a:rPr lang="en-US" sz="2600" b="1" dirty="0">
                <a:solidFill>
                  <a:srgbClr val="1B2A4A"/>
                </a:solidFill>
                <a:latin typeface="Calibri" pitchFamily="34" charset="0"/>
                <a:ea typeface="Calibri" pitchFamily="34" charset="-122"/>
                <a:cs typeface="Calibri" pitchFamily="34" charset="-120"/>
              </a:rPr>
              <a:t>Entropy &amp; Information Gain</a:t>
            </a:r>
            <a:endParaRPr lang="en-US" sz="2600" dirty="0"/>
          </a:p>
        </p:txBody>
      </p:sp>
      <p:sp>
        <p:nvSpPr>
          <p:cNvPr id="3" name="Shape 1"/>
          <p:cNvSpPr/>
          <p:nvPr/>
        </p:nvSpPr>
        <p:spPr>
          <a:xfrm>
            <a:off x="548640" y="914400"/>
            <a:ext cx="11064240" cy="0"/>
          </a:xfrm>
          <a:prstGeom prst="line">
            <a:avLst/>
          </a:prstGeom>
          <a:noFill/>
          <a:ln w="12700">
            <a:solidFill>
              <a:srgbClr val="DDDDDD"/>
            </a:solidFill>
            <a:prstDash val="solid"/>
          </a:ln>
        </p:spPr>
      </p:sp>
      <p:sp>
        <p:nvSpPr>
          <p:cNvPr id="4" name="Shape 2"/>
          <p:cNvSpPr/>
          <p:nvPr/>
        </p:nvSpPr>
        <p:spPr>
          <a:xfrm>
            <a:off x="548640" y="1143000"/>
            <a:ext cx="5440680" cy="2743200"/>
          </a:xfrm>
          <a:prstGeom prst="roundRect">
            <a:avLst>
              <a:gd name="adj" fmla="val 2667"/>
            </a:avLst>
          </a:prstGeom>
          <a:solidFill>
            <a:srgbClr val="1A1A1A"/>
          </a:solidFill>
          <a:ln/>
        </p:spPr>
      </p:sp>
      <p:sp>
        <p:nvSpPr>
          <p:cNvPr id="5" name="Text 3"/>
          <p:cNvSpPr/>
          <p:nvPr/>
        </p:nvSpPr>
        <p:spPr>
          <a:xfrm>
            <a:off x="777240" y="1280160"/>
            <a:ext cx="4937760" cy="320040"/>
          </a:xfrm>
          <a:prstGeom prst="rect">
            <a:avLst/>
          </a:prstGeom>
          <a:noFill/>
          <a:ln/>
        </p:spPr>
        <p:txBody>
          <a:bodyPr wrap="square" rtlCol="0" anchor="ctr"/>
          <a:lstStyle/>
          <a:p>
            <a:pPr indent="0" marL="0">
              <a:buNone/>
            </a:pPr>
            <a:r>
              <a:rPr lang="en-US" sz="1300" b="1" dirty="0">
                <a:solidFill>
                  <a:srgbClr val="9FE8DE"/>
                </a:solidFill>
                <a:latin typeface="Calibri" pitchFamily="34" charset="0"/>
                <a:ea typeface="Calibri" pitchFamily="34" charset="-122"/>
                <a:cs typeface="Calibri" pitchFamily="34" charset="-120"/>
              </a:rPr>
              <a:t>Entropy — impurity of a set S</a:t>
            </a:r>
            <a:endParaRPr lang="en-US" sz="1300" dirty="0"/>
          </a:p>
        </p:txBody>
      </p:sp>
      <p:sp>
        <p:nvSpPr>
          <p:cNvPr id="6" name="Text 4"/>
          <p:cNvSpPr/>
          <p:nvPr/>
        </p:nvSpPr>
        <p:spPr>
          <a:xfrm>
            <a:off x="777240" y="1691640"/>
            <a:ext cx="4937760" cy="457200"/>
          </a:xfrm>
          <a:prstGeom prst="rect">
            <a:avLst/>
          </a:prstGeom>
          <a:noFill/>
          <a:ln/>
        </p:spPr>
        <p:txBody>
          <a:bodyPr wrap="square" rtlCol="0" anchor="ctr"/>
          <a:lstStyle/>
          <a:p>
            <a:pPr indent="0" marL="0">
              <a:buNone/>
            </a:pPr>
            <a:r>
              <a:rPr lang="en-US" sz="1600" b="1" dirty="0">
                <a:solidFill>
                  <a:srgbClr val="FFFFFF"/>
                </a:solidFill>
                <a:latin typeface="Consolas" pitchFamily="34" charset="0"/>
                <a:ea typeface="Consolas" pitchFamily="34" charset="-122"/>
                <a:cs typeface="Consolas" pitchFamily="34" charset="-120"/>
              </a:rPr>
              <a:t>Entropy(S) = − Σ pᵢ · log₂(pᵢ)</a:t>
            </a:r>
            <a:endParaRPr lang="en-US" sz="1600" dirty="0"/>
          </a:p>
        </p:txBody>
      </p:sp>
      <p:sp>
        <p:nvSpPr>
          <p:cNvPr id="7" name="Text 5"/>
          <p:cNvSpPr/>
          <p:nvPr/>
        </p:nvSpPr>
        <p:spPr>
          <a:xfrm>
            <a:off x="777240" y="2240280"/>
            <a:ext cx="4937760" cy="1554480"/>
          </a:xfrm>
          <a:prstGeom prst="rect">
            <a:avLst/>
          </a:prstGeom>
          <a:noFill/>
          <a:ln/>
        </p:spPr>
        <p:txBody>
          <a:bodyPr wrap="square" rtlCol="0" anchor="ctr"/>
          <a:lstStyle/>
          <a:p>
            <a:pPr indent="0" marL="0">
              <a:lnSpc>
                <a:spcPct val="130000"/>
              </a:lnSpc>
              <a:buNone/>
            </a:pPr>
            <a:r>
              <a:rPr lang="en-US" sz="1150" b="1" dirty="0">
                <a:solidFill>
                  <a:srgbClr val="FFD9A0"/>
                </a:solidFill>
                <a:latin typeface="Calibri" pitchFamily="34" charset="0"/>
                <a:ea typeface="Calibri" pitchFamily="34" charset="-122"/>
                <a:cs typeface="Calibri" pitchFamily="34" charset="-120"/>
              </a:rPr>
              <a:t>pᵢ</a:t>
            </a:r>
            <a:pPr indent="0" marL="0">
              <a:lnSpc>
                <a:spcPct val="130000"/>
              </a:lnSpc>
              <a:buNone/>
            </a:pPr>
            <a:r>
              <a:rPr lang="en-US" sz="1150" dirty="0">
                <a:solidFill>
                  <a:srgbClr val="CFCFCF"/>
                </a:solidFill>
                <a:latin typeface="Calibri" pitchFamily="34" charset="0"/>
                <a:ea typeface="Calibri" pitchFamily="34" charset="-122"/>
                <a:cs typeface="Calibri" pitchFamily="34" charset="-120"/>
              </a:rPr>
              <a:t> = proportion of examples in S belonging to class i
</a:t>
            </a:r>
            <a:pPr indent="0" marL="0">
              <a:lnSpc>
                <a:spcPct val="130000"/>
              </a:lnSpc>
              <a:buNone/>
            </a:pPr>
            <a:r>
              <a:rPr lang="en-US" sz="1150" dirty="0">
                <a:solidFill>
                  <a:srgbClr val="CFCFCF"/>
                </a:solidFill>
                <a:latin typeface="Calibri" pitchFamily="34" charset="0"/>
                <a:ea typeface="Calibri" pitchFamily="34" charset="-122"/>
                <a:cs typeface="Calibri" pitchFamily="34" charset="-120"/>
              </a:rPr>
              <a:t>Range: 0 (pure, all one class) to log₂(c) for c classes
</a:t>
            </a:r>
            <a:pPr indent="0" marL="0">
              <a:lnSpc>
                <a:spcPct val="130000"/>
              </a:lnSpc>
              <a:buNone/>
            </a:pPr>
            <a:r>
              <a:rPr lang="en-US" sz="1150" dirty="0">
                <a:solidFill>
                  <a:srgbClr val="CFCFCF"/>
                </a:solidFill>
                <a:latin typeface="Calibri" pitchFamily="34" charset="0"/>
                <a:ea typeface="Calibri" pitchFamily="34" charset="-122"/>
                <a:cs typeface="Calibri" pitchFamily="34" charset="-120"/>
              </a:rPr>
              <a:t>Binary case max = 1 bit (50/50 split)</a:t>
            </a:r>
            <a:endParaRPr lang="en-US" sz="1150" dirty="0"/>
          </a:p>
        </p:txBody>
      </p:sp>
      <p:sp>
        <p:nvSpPr>
          <p:cNvPr id="8" name="Shape 6"/>
          <p:cNvSpPr/>
          <p:nvPr/>
        </p:nvSpPr>
        <p:spPr>
          <a:xfrm>
            <a:off x="6172200" y="1143000"/>
            <a:ext cx="5440680" cy="2743200"/>
          </a:xfrm>
          <a:prstGeom prst="roundRect">
            <a:avLst>
              <a:gd name="adj" fmla="val 2667"/>
            </a:avLst>
          </a:prstGeom>
          <a:solidFill>
            <a:srgbClr val="1A1A1A"/>
          </a:solidFill>
          <a:ln/>
        </p:spPr>
      </p:sp>
      <p:sp>
        <p:nvSpPr>
          <p:cNvPr id="9" name="Text 7"/>
          <p:cNvSpPr/>
          <p:nvPr/>
        </p:nvSpPr>
        <p:spPr>
          <a:xfrm>
            <a:off x="6400800" y="1280160"/>
            <a:ext cx="4937760" cy="320040"/>
          </a:xfrm>
          <a:prstGeom prst="rect">
            <a:avLst/>
          </a:prstGeom>
          <a:noFill/>
          <a:ln/>
        </p:spPr>
        <p:txBody>
          <a:bodyPr wrap="square" rtlCol="0" anchor="ctr"/>
          <a:lstStyle/>
          <a:p>
            <a:pPr indent="0" marL="0">
              <a:buNone/>
            </a:pPr>
            <a:r>
              <a:rPr lang="en-US" sz="1300" b="1" dirty="0">
                <a:solidFill>
                  <a:srgbClr val="9FE8DE"/>
                </a:solidFill>
                <a:latin typeface="Calibri" pitchFamily="34" charset="0"/>
                <a:ea typeface="Calibri" pitchFamily="34" charset="-122"/>
                <a:cs typeface="Calibri" pitchFamily="34" charset="-120"/>
              </a:rPr>
              <a:t>Information Gain of attribute A</a:t>
            </a:r>
            <a:endParaRPr lang="en-US" sz="1300" dirty="0"/>
          </a:p>
        </p:txBody>
      </p:sp>
      <p:sp>
        <p:nvSpPr>
          <p:cNvPr id="10" name="Text 8"/>
          <p:cNvSpPr/>
          <p:nvPr/>
        </p:nvSpPr>
        <p:spPr>
          <a:xfrm>
            <a:off x="6400800" y="1691640"/>
            <a:ext cx="5029200" cy="548640"/>
          </a:xfrm>
          <a:prstGeom prst="rect">
            <a:avLst/>
          </a:prstGeom>
          <a:noFill/>
          <a:ln/>
        </p:spPr>
        <p:txBody>
          <a:bodyPr wrap="square" rtlCol="0" anchor="ctr"/>
          <a:lstStyle/>
          <a:p>
            <a:pPr indent="0" marL="0">
              <a:buNone/>
            </a:pPr>
            <a:r>
              <a:rPr lang="en-US" sz="1350" b="1" dirty="0">
                <a:solidFill>
                  <a:srgbClr val="FFFFFF"/>
                </a:solidFill>
                <a:latin typeface="Consolas" pitchFamily="34" charset="0"/>
                <a:ea typeface="Consolas" pitchFamily="34" charset="-122"/>
                <a:cs typeface="Consolas" pitchFamily="34" charset="-120"/>
              </a:rPr>
              <a:t>Gain(S,A) = Entropy(S) − Σ (|Sᵥ|/|S|)·Entropy(Sᵥ)</a:t>
            </a:r>
            <a:endParaRPr lang="en-US" sz="1350" dirty="0"/>
          </a:p>
        </p:txBody>
      </p:sp>
      <p:sp>
        <p:nvSpPr>
          <p:cNvPr id="11" name="Text 9"/>
          <p:cNvSpPr/>
          <p:nvPr/>
        </p:nvSpPr>
        <p:spPr>
          <a:xfrm>
            <a:off x="6400800" y="2286000"/>
            <a:ext cx="5029200" cy="1554480"/>
          </a:xfrm>
          <a:prstGeom prst="rect">
            <a:avLst/>
          </a:prstGeom>
          <a:noFill/>
          <a:ln/>
        </p:spPr>
        <p:txBody>
          <a:bodyPr wrap="square" rtlCol="0" anchor="ctr"/>
          <a:lstStyle/>
          <a:p>
            <a:pPr indent="0" marL="0">
              <a:lnSpc>
                <a:spcPct val="125000"/>
              </a:lnSpc>
              <a:buNone/>
            </a:pPr>
            <a:r>
              <a:rPr lang="en-US" sz="1100" b="1" dirty="0">
                <a:solidFill>
                  <a:srgbClr val="FFD9A0"/>
                </a:solidFill>
                <a:latin typeface="Calibri" pitchFamily="34" charset="0"/>
                <a:ea typeface="Calibri" pitchFamily="34" charset="-122"/>
                <a:cs typeface="Calibri" pitchFamily="34" charset="-120"/>
              </a:rPr>
              <a:t>v ∈ Values(A)</a:t>
            </a:r>
            <a:pPr indent="0" marL="0">
              <a:lnSpc>
                <a:spcPct val="125000"/>
              </a:lnSpc>
              <a:buNone/>
            </a:pPr>
            <a:r>
              <a:rPr lang="en-US" sz="1100" dirty="0">
                <a:solidFill>
                  <a:srgbClr val="CFCFCF"/>
                </a:solidFill>
                <a:latin typeface="Calibri" pitchFamily="34" charset="0"/>
                <a:ea typeface="Calibri" pitchFamily="34" charset="-122"/>
                <a:cs typeface="Calibri" pitchFamily="34" charset="-120"/>
              </a:rPr>
              <a:t> — each value the attribute A can take
</a:t>
            </a:r>
            <a:pPr indent="0" marL="0">
              <a:lnSpc>
                <a:spcPct val="125000"/>
              </a:lnSpc>
              <a:buNone/>
            </a:pPr>
            <a:r>
              <a:rPr lang="en-US" sz="1100" b="1" dirty="0">
                <a:solidFill>
                  <a:srgbClr val="FFD9A0"/>
                </a:solidFill>
                <a:latin typeface="Calibri" pitchFamily="34" charset="0"/>
                <a:ea typeface="Calibri" pitchFamily="34" charset="-122"/>
                <a:cs typeface="Calibri" pitchFamily="34" charset="-120"/>
              </a:rPr>
              <a:t>Sᵥ</a:t>
            </a:r>
            <a:pPr indent="0" marL="0">
              <a:lnSpc>
                <a:spcPct val="125000"/>
              </a:lnSpc>
              <a:buNone/>
            </a:pPr>
            <a:r>
              <a:rPr lang="en-US" sz="1100" dirty="0">
                <a:solidFill>
                  <a:srgbClr val="CFCFCF"/>
                </a:solidFill>
                <a:latin typeface="Calibri" pitchFamily="34" charset="0"/>
                <a:ea typeface="Calibri" pitchFamily="34" charset="-122"/>
                <a:cs typeface="Calibri" pitchFamily="34" charset="-120"/>
              </a:rPr>
              <a:t> = subset of S where attribute A = v
</a:t>
            </a:r>
            <a:pPr indent="0" marL="0">
              <a:lnSpc>
                <a:spcPct val="125000"/>
              </a:lnSpc>
              <a:buNone/>
            </a:pPr>
            <a:r>
              <a:rPr lang="en-US" sz="1100" dirty="0">
                <a:solidFill>
                  <a:srgbClr val="CFCFCF"/>
                </a:solidFill>
                <a:latin typeface="Calibri" pitchFamily="34" charset="0"/>
                <a:ea typeface="Calibri" pitchFamily="34" charset="-122"/>
                <a:cs typeface="Calibri" pitchFamily="34" charset="-120"/>
              </a:rPr>
              <a:t>Pick the attribute with the highest Gain at each node</a:t>
            </a:r>
            <a:endParaRPr lang="en-US" sz="1100" dirty="0"/>
          </a:p>
        </p:txBody>
      </p:sp>
      <p:sp>
        <p:nvSpPr>
          <p:cNvPr id="12" name="Shape 10"/>
          <p:cNvSpPr/>
          <p:nvPr/>
        </p:nvSpPr>
        <p:spPr>
          <a:xfrm>
            <a:off x="548640" y="4069080"/>
            <a:ext cx="11064240" cy="1051560"/>
          </a:xfrm>
          <a:prstGeom prst="roundRect">
            <a:avLst>
              <a:gd name="adj" fmla="val 6957"/>
            </a:avLst>
          </a:prstGeom>
          <a:solidFill>
            <a:srgbClr val="FDF3E7"/>
          </a:solidFill>
          <a:ln/>
        </p:spPr>
      </p:sp>
      <p:sp>
        <p:nvSpPr>
          <p:cNvPr id="13" name="Text 11"/>
          <p:cNvSpPr/>
          <p:nvPr/>
        </p:nvSpPr>
        <p:spPr>
          <a:xfrm>
            <a:off x="777240" y="4187952"/>
            <a:ext cx="3657600" cy="320040"/>
          </a:xfrm>
          <a:prstGeom prst="rect">
            <a:avLst/>
          </a:prstGeom>
          <a:noFill/>
          <a:ln/>
        </p:spPr>
        <p:txBody>
          <a:bodyPr wrap="square"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Tree Pruning</a:t>
            </a:r>
            <a:endParaRPr lang="en-US" sz="1400" dirty="0"/>
          </a:p>
        </p:txBody>
      </p:sp>
      <p:sp>
        <p:nvSpPr>
          <p:cNvPr id="14" name="Text 12"/>
          <p:cNvSpPr/>
          <p:nvPr/>
        </p:nvSpPr>
        <p:spPr>
          <a:xfrm>
            <a:off x="777240" y="4480560"/>
            <a:ext cx="10607040" cy="594360"/>
          </a:xfrm>
          <a:prstGeom prst="rect">
            <a:avLst/>
          </a:prstGeom>
          <a:noFill/>
          <a:ln/>
        </p:spPr>
        <p:txBody>
          <a:bodyPr wrap="square" rtlCol="0" anchor="ctr"/>
          <a:lstStyle/>
          <a:p>
            <a:pPr indent="0" marL="0">
              <a:lnSpc>
                <a:spcPct val="125000"/>
              </a:lnSpc>
              <a:buNone/>
            </a:pPr>
            <a:r>
              <a:rPr lang="en-US" sz="1150" dirty="0">
                <a:solidFill>
                  <a:srgbClr val="1A1A1A"/>
                </a:solidFill>
                <a:latin typeface="Calibri" pitchFamily="34" charset="0"/>
                <a:ea typeface="Calibri" pitchFamily="34" charset="-122"/>
                <a:cs typeface="Calibri" pitchFamily="34" charset="-120"/>
              </a:rPr>
              <a:t>Removes subtrees/branches that provide little predictive power, replacing them with a leaf. Pre-pruning stops growth early (e.g., via a size/gain threshold); post-pruning grows the full tree then trims using a validation set. Both combat overfitting to noise in training data.</a:t>
            </a:r>
            <a:endParaRPr lang="en-US" sz="1150" dirty="0"/>
          </a:p>
        </p:txBody>
      </p:sp>
      <p:sp>
        <p:nvSpPr>
          <p:cNvPr id="15" name="Shape 13"/>
          <p:cNvSpPr/>
          <p:nvPr/>
        </p:nvSpPr>
        <p:spPr>
          <a:xfrm>
            <a:off x="548640" y="5257800"/>
            <a:ext cx="5440680" cy="1234440"/>
          </a:xfrm>
          <a:prstGeom prst="roundRect">
            <a:avLst>
              <a:gd name="adj" fmla="val 5926"/>
            </a:avLst>
          </a:prstGeom>
          <a:solidFill>
            <a:srgbClr val="E6F4F2"/>
          </a:solidFill>
          <a:ln/>
        </p:spPr>
      </p:sp>
      <p:sp>
        <p:nvSpPr>
          <p:cNvPr id="16" name="Text 14"/>
          <p:cNvSpPr/>
          <p:nvPr/>
        </p:nvSpPr>
        <p:spPr>
          <a:xfrm>
            <a:off x="777240" y="5349240"/>
            <a:ext cx="4572000" cy="274320"/>
          </a:xfrm>
          <a:prstGeom prst="rect">
            <a:avLst/>
          </a:prstGeom>
          <a:noFill/>
          <a:ln/>
        </p:spPr>
        <p:txBody>
          <a:bodyPr wrap="square" rtlCol="0" anchor="ctr"/>
          <a:lstStyle/>
          <a:p>
            <a:pPr indent="0" marL="0">
              <a:buNone/>
            </a:pPr>
            <a:r>
              <a:rPr lang="en-US" sz="1250" b="1" dirty="0">
                <a:solidFill>
                  <a:srgbClr val="0F766E"/>
                </a:solidFill>
                <a:latin typeface="Calibri" pitchFamily="34" charset="0"/>
                <a:ea typeface="Calibri" pitchFamily="34" charset="-122"/>
                <a:cs typeface="Calibri" pitchFamily="34" charset="-120"/>
              </a:rPr>
              <a:t>✓ Advantages</a:t>
            </a:r>
            <a:endParaRPr lang="en-US" sz="1250" dirty="0"/>
          </a:p>
        </p:txBody>
      </p:sp>
      <p:sp>
        <p:nvSpPr>
          <p:cNvPr id="17" name="Text 15"/>
          <p:cNvSpPr/>
          <p:nvPr/>
        </p:nvSpPr>
        <p:spPr>
          <a:xfrm>
            <a:off x="777240" y="5623560"/>
            <a:ext cx="4937760" cy="777240"/>
          </a:xfrm>
          <a:prstGeom prst="rect">
            <a:avLst/>
          </a:prstGeom>
          <a:noFill/>
          <a:ln/>
        </p:spPr>
        <p:txBody>
          <a:bodyPr wrap="square" rtlCol="0" anchor="ctr"/>
          <a:lstStyle/>
          <a:p>
            <a:pPr indent="0" marL="0">
              <a:lnSpc>
                <a:spcPct val="120000"/>
              </a:lnSpc>
              <a:buNone/>
            </a:pPr>
            <a:r>
              <a:rPr lang="en-US" sz="1050" dirty="0">
                <a:solidFill>
                  <a:srgbClr val="1A1A1A"/>
                </a:solidFill>
                <a:latin typeface="Calibri" pitchFamily="34" charset="0"/>
                <a:ea typeface="Calibri" pitchFamily="34" charset="-122"/>
                <a:cs typeface="Calibri" pitchFamily="34" charset="-120"/>
              </a:rPr>
              <a:t>Interpretable &amp; human-readable · handles categorical + numeric data · no feature scaling needed · fast inference</a:t>
            </a:r>
            <a:endParaRPr lang="en-US" sz="1050" dirty="0"/>
          </a:p>
        </p:txBody>
      </p:sp>
      <p:sp>
        <p:nvSpPr>
          <p:cNvPr id="18" name="Shape 16"/>
          <p:cNvSpPr/>
          <p:nvPr/>
        </p:nvSpPr>
        <p:spPr>
          <a:xfrm>
            <a:off x="6172200" y="5257800"/>
            <a:ext cx="5440680" cy="1234440"/>
          </a:xfrm>
          <a:prstGeom prst="roundRect">
            <a:avLst>
              <a:gd name="adj" fmla="val 5926"/>
            </a:avLst>
          </a:prstGeom>
          <a:solidFill>
            <a:srgbClr val="FDECEC"/>
          </a:solidFill>
          <a:ln/>
        </p:spPr>
      </p:sp>
      <p:sp>
        <p:nvSpPr>
          <p:cNvPr id="19" name="Text 17"/>
          <p:cNvSpPr/>
          <p:nvPr/>
        </p:nvSpPr>
        <p:spPr>
          <a:xfrm>
            <a:off x="6400800" y="5349240"/>
            <a:ext cx="4572000" cy="274320"/>
          </a:xfrm>
          <a:prstGeom prst="rect">
            <a:avLst/>
          </a:prstGeom>
          <a:noFill/>
          <a:ln/>
        </p:spPr>
        <p:txBody>
          <a:bodyPr wrap="square" rtlCol="0" anchor="ctr"/>
          <a:lstStyle/>
          <a:p>
            <a:pPr indent="0" marL="0">
              <a:buNone/>
            </a:pPr>
            <a:r>
              <a:rPr lang="en-US" sz="1250" b="1" dirty="0">
                <a:solidFill>
                  <a:srgbClr val="B91C1C"/>
                </a:solidFill>
                <a:latin typeface="Calibri" pitchFamily="34" charset="0"/>
                <a:ea typeface="Calibri" pitchFamily="34" charset="-122"/>
                <a:cs typeface="Calibri" pitchFamily="34" charset="-120"/>
              </a:rPr>
              <a:t>✗ Limitations</a:t>
            </a:r>
            <a:endParaRPr lang="en-US" sz="1250" dirty="0"/>
          </a:p>
        </p:txBody>
      </p:sp>
      <p:sp>
        <p:nvSpPr>
          <p:cNvPr id="20" name="Text 18"/>
          <p:cNvSpPr/>
          <p:nvPr/>
        </p:nvSpPr>
        <p:spPr>
          <a:xfrm>
            <a:off x="6400800" y="5623560"/>
            <a:ext cx="4937760" cy="777240"/>
          </a:xfrm>
          <a:prstGeom prst="rect">
            <a:avLst/>
          </a:prstGeom>
          <a:noFill/>
          <a:ln/>
        </p:spPr>
        <p:txBody>
          <a:bodyPr wrap="square" rtlCol="0" anchor="ctr"/>
          <a:lstStyle/>
          <a:p>
            <a:pPr indent="0" marL="0">
              <a:lnSpc>
                <a:spcPct val="120000"/>
              </a:lnSpc>
              <a:buNone/>
            </a:pPr>
            <a:r>
              <a:rPr lang="en-US" sz="1050" dirty="0">
                <a:solidFill>
                  <a:srgbClr val="1A1A1A"/>
                </a:solidFill>
                <a:latin typeface="Calibri" pitchFamily="34" charset="0"/>
                <a:ea typeface="Calibri" pitchFamily="34" charset="-122"/>
                <a:cs typeface="Calibri" pitchFamily="34" charset="-120"/>
              </a:rPr>
              <a:t>Prone to overfitting without pruning · unstable to small data changes · biased toward attributes with many values · can create overly complex trees</a:t>
            </a:r>
            <a:endParaRPr lang="en-US" sz="1050" dirty="0"/>
          </a:p>
        </p:txBody>
      </p:sp>
      <p:sp>
        <p:nvSpPr>
          <p:cNvPr id="21" name="Text 19"/>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ITA 06 — Machine Learning  |  CO1</a:t>
            </a:r>
            <a:endParaRPr lang="en-US" sz="1000" dirty="0"/>
          </a:p>
        </p:txBody>
      </p:sp>
      <p:sp>
        <p:nvSpPr>
          <p:cNvPr id="22" name="Text 20"/>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999999"/>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A4A"/>
          </a:solidFill>
          <a:ln/>
        </p:spPr>
      </p:sp>
      <p:sp>
        <p:nvSpPr>
          <p:cNvPr id="3" name="Shape 1"/>
          <p:cNvSpPr/>
          <p:nvPr/>
        </p:nvSpPr>
        <p:spPr>
          <a:xfrm>
            <a:off x="-1645920" y="-1645920"/>
            <a:ext cx="4572000" cy="4572000"/>
          </a:xfrm>
          <a:prstGeom prst="ellipse">
            <a:avLst/>
          </a:prstGeom>
          <a:solidFill>
            <a:srgbClr val="24365E"/>
          </a:solidFill>
          <a:ln/>
        </p:spPr>
      </p:sp>
      <p:sp>
        <p:nvSpPr>
          <p:cNvPr id="4" name="Text 2"/>
          <p:cNvSpPr/>
          <p:nvPr/>
        </p:nvSpPr>
        <p:spPr>
          <a:xfrm>
            <a:off x="731520" y="1005840"/>
            <a:ext cx="7315200" cy="54864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Summary</a:t>
            </a:r>
            <a:endParaRPr lang="en-US" sz="3000" dirty="0"/>
          </a:p>
        </p:txBody>
      </p:sp>
      <p:sp>
        <p:nvSpPr>
          <p:cNvPr id="5" name="Shape 3"/>
          <p:cNvSpPr/>
          <p:nvPr/>
        </p:nvSpPr>
        <p:spPr>
          <a:xfrm>
            <a:off x="731520" y="1828800"/>
            <a:ext cx="914400" cy="1097280"/>
          </a:xfrm>
          <a:prstGeom prst="roundRect">
            <a:avLst>
              <a:gd name="adj" fmla="val 8000"/>
            </a:avLst>
          </a:prstGeom>
          <a:solidFill>
            <a:srgbClr val="2E4270"/>
          </a:solidFill>
          <a:ln/>
        </p:spPr>
      </p:sp>
      <p:sp>
        <p:nvSpPr>
          <p:cNvPr id="6" name="Text 4"/>
          <p:cNvSpPr/>
          <p:nvPr/>
        </p:nvSpPr>
        <p:spPr>
          <a:xfrm>
            <a:off x="731520" y="1828800"/>
            <a:ext cx="914400" cy="1097280"/>
          </a:xfrm>
          <a:prstGeom prst="rect">
            <a:avLst/>
          </a:prstGeom>
          <a:noFill/>
          <a:ln/>
        </p:spPr>
        <p:txBody>
          <a:bodyPr wrap="square" rtlCol="0" anchor="ctr"/>
          <a:lstStyle/>
          <a:p>
            <a:pPr algn="ctr" indent="0" marL="0">
              <a:buNone/>
            </a:pPr>
            <a:r>
              <a:rPr lang="en-US" sz="1800" b="1" dirty="0">
                <a:solidFill>
                  <a:srgbClr val="9FE8DE"/>
                </a:solidFill>
                <a:latin typeface="Calibri" pitchFamily="34" charset="0"/>
                <a:ea typeface="Calibri" pitchFamily="34" charset="-122"/>
                <a:cs typeface="Calibri" pitchFamily="34" charset="-120"/>
              </a:rPr>
              <a:t>Q7</a:t>
            </a:r>
            <a:endParaRPr lang="en-US" sz="1800" dirty="0"/>
          </a:p>
        </p:txBody>
      </p:sp>
      <p:sp>
        <p:nvSpPr>
          <p:cNvPr id="7" name="Text 5"/>
          <p:cNvSpPr/>
          <p:nvPr/>
        </p:nvSpPr>
        <p:spPr>
          <a:xfrm>
            <a:off x="1828800" y="1783080"/>
            <a:ext cx="4023360" cy="54864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Version Spaces / Candidate Elimination</a:t>
            </a:r>
            <a:endParaRPr lang="en-US" sz="1450" dirty="0"/>
          </a:p>
        </p:txBody>
      </p:sp>
      <p:sp>
        <p:nvSpPr>
          <p:cNvPr id="8" name="Text 6"/>
          <p:cNvSpPr/>
          <p:nvPr/>
        </p:nvSpPr>
        <p:spPr>
          <a:xfrm>
            <a:off x="1828800" y="2240280"/>
            <a:ext cx="9418320" cy="640080"/>
          </a:xfrm>
          <a:prstGeom prst="rect">
            <a:avLst/>
          </a:prstGeom>
          <a:noFill/>
          <a:ln/>
        </p:spPr>
        <p:txBody>
          <a:bodyPr wrap="square" rtlCol="0" anchor="ctr"/>
          <a:lstStyle/>
          <a:p>
            <a:pPr indent="0" marL="0">
              <a:lnSpc>
                <a:spcPct val="125000"/>
              </a:lnSpc>
              <a:buNone/>
            </a:pPr>
            <a:r>
              <a:rPr lang="en-US" sz="1150" dirty="0">
                <a:solidFill>
                  <a:srgbClr val="C7D4EA"/>
                </a:solidFill>
                <a:latin typeface="Calibri" pitchFamily="34" charset="0"/>
                <a:ea typeface="Calibri" pitchFamily="34" charset="-122"/>
                <a:cs typeface="Calibri" pitchFamily="34" charset="-120"/>
              </a:rPr>
              <a:t>S and G boundaries bracket every hypothesis consistent with data; converge to target when S = G.</a:t>
            </a:r>
            <a:endParaRPr lang="en-US" sz="1150" dirty="0"/>
          </a:p>
        </p:txBody>
      </p:sp>
      <p:sp>
        <p:nvSpPr>
          <p:cNvPr id="9" name="Shape 7"/>
          <p:cNvSpPr/>
          <p:nvPr/>
        </p:nvSpPr>
        <p:spPr>
          <a:xfrm>
            <a:off x="731520" y="3200400"/>
            <a:ext cx="914400" cy="1097280"/>
          </a:xfrm>
          <a:prstGeom prst="roundRect">
            <a:avLst>
              <a:gd name="adj" fmla="val 8000"/>
            </a:avLst>
          </a:prstGeom>
          <a:solidFill>
            <a:srgbClr val="2E4270"/>
          </a:solidFill>
          <a:ln/>
        </p:spPr>
      </p:sp>
      <p:sp>
        <p:nvSpPr>
          <p:cNvPr id="10" name="Text 8"/>
          <p:cNvSpPr/>
          <p:nvPr/>
        </p:nvSpPr>
        <p:spPr>
          <a:xfrm>
            <a:off x="731520" y="3200400"/>
            <a:ext cx="914400" cy="1097280"/>
          </a:xfrm>
          <a:prstGeom prst="rect">
            <a:avLst/>
          </a:prstGeom>
          <a:noFill/>
          <a:ln/>
        </p:spPr>
        <p:txBody>
          <a:bodyPr wrap="square" rtlCol="0" anchor="ctr"/>
          <a:lstStyle/>
          <a:p>
            <a:pPr algn="ctr" indent="0" marL="0">
              <a:buNone/>
            </a:pPr>
            <a:r>
              <a:rPr lang="en-US" sz="1800" b="1" dirty="0">
                <a:solidFill>
                  <a:srgbClr val="9FE8DE"/>
                </a:solidFill>
                <a:latin typeface="Calibri" pitchFamily="34" charset="0"/>
                <a:ea typeface="Calibri" pitchFamily="34" charset="-122"/>
                <a:cs typeface="Calibri" pitchFamily="34" charset="-120"/>
              </a:rPr>
              <a:t>Q8</a:t>
            </a:r>
            <a:endParaRPr lang="en-US" sz="1800" dirty="0"/>
          </a:p>
        </p:txBody>
      </p:sp>
      <p:sp>
        <p:nvSpPr>
          <p:cNvPr id="11" name="Text 9"/>
          <p:cNvSpPr/>
          <p:nvPr/>
        </p:nvSpPr>
        <p:spPr>
          <a:xfrm>
            <a:off x="1828800" y="3154680"/>
            <a:ext cx="4023360" cy="54864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Inductive Bias</a:t>
            </a:r>
            <a:endParaRPr lang="en-US" sz="1450" dirty="0"/>
          </a:p>
        </p:txBody>
      </p:sp>
      <p:sp>
        <p:nvSpPr>
          <p:cNvPr id="12" name="Text 10"/>
          <p:cNvSpPr/>
          <p:nvPr/>
        </p:nvSpPr>
        <p:spPr>
          <a:xfrm>
            <a:off x="1828800" y="3611880"/>
            <a:ext cx="9418320" cy="640080"/>
          </a:xfrm>
          <a:prstGeom prst="rect">
            <a:avLst/>
          </a:prstGeom>
          <a:noFill/>
          <a:ln/>
        </p:spPr>
        <p:txBody>
          <a:bodyPr wrap="square" rtlCol="0" anchor="ctr"/>
          <a:lstStyle/>
          <a:p>
            <a:pPr indent="0" marL="0">
              <a:lnSpc>
                <a:spcPct val="125000"/>
              </a:lnSpc>
              <a:buNone/>
            </a:pPr>
            <a:r>
              <a:rPr lang="en-US" sz="1150" dirty="0">
                <a:solidFill>
                  <a:srgbClr val="C7D4EA"/>
                </a:solidFill>
                <a:latin typeface="Calibri" pitchFamily="34" charset="0"/>
                <a:ea typeface="Calibri" pitchFamily="34" charset="-122"/>
                <a:cs typeface="Calibri" pitchFamily="34" charset="-120"/>
              </a:rPr>
              <a:t>Restriction bias limits H; preference bias orders the search — both are what let a learner generalize at all.</a:t>
            </a:r>
            <a:endParaRPr lang="en-US" sz="1150" dirty="0"/>
          </a:p>
        </p:txBody>
      </p:sp>
      <p:sp>
        <p:nvSpPr>
          <p:cNvPr id="13" name="Shape 11"/>
          <p:cNvSpPr/>
          <p:nvPr/>
        </p:nvSpPr>
        <p:spPr>
          <a:xfrm>
            <a:off x="731520" y="4572000"/>
            <a:ext cx="914400" cy="1097280"/>
          </a:xfrm>
          <a:prstGeom prst="roundRect">
            <a:avLst>
              <a:gd name="adj" fmla="val 8000"/>
            </a:avLst>
          </a:prstGeom>
          <a:solidFill>
            <a:srgbClr val="2E4270"/>
          </a:solidFill>
          <a:ln/>
        </p:spPr>
      </p:sp>
      <p:sp>
        <p:nvSpPr>
          <p:cNvPr id="14" name="Text 12"/>
          <p:cNvSpPr/>
          <p:nvPr/>
        </p:nvSpPr>
        <p:spPr>
          <a:xfrm>
            <a:off x="731520" y="4572000"/>
            <a:ext cx="914400" cy="1097280"/>
          </a:xfrm>
          <a:prstGeom prst="rect">
            <a:avLst/>
          </a:prstGeom>
          <a:noFill/>
          <a:ln/>
        </p:spPr>
        <p:txBody>
          <a:bodyPr wrap="square" rtlCol="0" anchor="ctr"/>
          <a:lstStyle/>
          <a:p>
            <a:pPr algn="ctr" indent="0" marL="0">
              <a:buNone/>
            </a:pPr>
            <a:r>
              <a:rPr lang="en-US" sz="1800" b="1" dirty="0">
                <a:solidFill>
                  <a:srgbClr val="9FE8DE"/>
                </a:solidFill>
                <a:latin typeface="Calibri" pitchFamily="34" charset="0"/>
                <a:ea typeface="Calibri" pitchFamily="34" charset="-122"/>
                <a:cs typeface="Calibri" pitchFamily="34" charset="-120"/>
              </a:rPr>
              <a:t>Q9</a:t>
            </a:r>
            <a:endParaRPr lang="en-US" sz="1800" dirty="0"/>
          </a:p>
        </p:txBody>
      </p:sp>
      <p:sp>
        <p:nvSpPr>
          <p:cNvPr id="15" name="Text 13"/>
          <p:cNvSpPr/>
          <p:nvPr/>
        </p:nvSpPr>
        <p:spPr>
          <a:xfrm>
            <a:off x="1828800" y="4526280"/>
            <a:ext cx="4023360" cy="548640"/>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Decision Trees</a:t>
            </a:r>
            <a:endParaRPr lang="en-US" sz="1450" dirty="0"/>
          </a:p>
        </p:txBody>
      </p:sp>
      <p:sp>
        <p:nvSpPr>
          <p:cNvPr id="16" name="Text 14"/>
          <p:cNvSpPr/>
          <p:nvPr/>
        </p:nvSpPr>
        <p:spPr>
          <a:xfrm>
            <a:off x="1828800" y="4983480"/>
            <a:ext cx="9418320" cy="640080"/>
          </a:xfrm>
          <a:prstGeom prst="rect">
            <a:avLst/>
          </a:prstGeom>
          <a:noFill/>
          <a:ln/>
        </p:spPr>
        <p:txBody>
          <a:bodyPr wrap="square" rtlCol="0" anchor="ctr"/>
          <a:lstStyle/>
          <a:p>
            <a:pPr indent="0" marL="0">
              <a:lnSpc>
                <a:spcPct val="125000"/>
              </a:lnSpc>
              <a:buNone/>
            </a:pPr>
            <a:r>
              <a:rPr lang="en-US" sz="1150" dirty="0">
                <a:solidFill>
                  <a:srgbClr val="C7D4EA"/>
                </a:solidFill>
                <a:latin typeface="Calibri" pitchFamily="34" charset="0"/>
                <a:ea typeface="Calibri" pitchFamily="34" charset="-122"/>
                <a:cs typeface="Calibri" pitchFamily="34" charset="-120"/>
              </a:rPr>
              <a:t>Entropy measures impurity; Information Gain picks the best split; pruning controls overfitting.</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2026-07-23T07:54:24Z</dcterms:created>
  <dcterms:modified xsi:type="dcterms:W3CDTF">2026-07-23T07:54:24Z</dcterms:modified>
</cp:coreProperties>
</file>